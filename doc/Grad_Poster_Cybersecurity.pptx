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30724475" cy="47456725"/>
  <p:notesSz cx="6858000" cy="9144000"/>
  <p:embeddedFontLst>
    <p:embeddedFont>
      <p:font typeface="Arial Unicode MS" panose="020B0604020202020204" charset="-128"/>
      <p:regular r:id="rId4"/>
    </p:embeddedFont>
    <p:embeddedFont>
      <p:font typeface="Titillium Web" panose="00000500000000000000" pitchFamily="2" charset="0"/>
      <p:regular r:id="rId5"/>
      <p:bold r:id="rId6"/>
      <p:italic r:id="rId7"/>
      <p:boldItalic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4948" userDrawn="1">
          <p15:clr>
            <a:srgbClr val="A4A3A4"/>
          </p15:clr>
        </p15:guide>
        <p15:guide id="2" pos="9678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idFYQDuC3v0tfi5ST5GQlQPtRa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B1D8"/>
    <a:srgbClr val="6297D2"/>
    <a:srgbClr val="5CC6D8"/>
    <a:srgbClr val="56DED1"/>
    <a:srgbClr val="2381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24" autoAdjust="0"/>
    <p:restoredTop sz="95084" autoAdjust="0"/>
  </p:normalViewPr>
  <p:slideViewPr>
    <p:cSldViewPr snapToGrid="0">
      <p:cViewPr>
        <p:scale>
          <a:sx n="33" d="100"/>
          <a:sy n="33" d="100"/>
        </p:scale>
        <p:origin x="2424" y="-1860"/>
      </p:cViewPr>
      <p:guideLst>
        <p:guide orient="horz" pos="14948"/>
        <p:guide pos="96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customschemas.google.com/relationships/presentationmetadata" Target="meta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4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Subsystem Status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v>Subsystems</c:v>
          </c:tx>
          <c:spPr>
            <a:solidFill>
              <a:srgbClr val="5CC6D8"/>
            </a:solidFill>
          </c:spPr>
          <c:dPt>
            <c:idx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0-FF1A-4C83-943A-DFB52535F73C}"/>
              </c:ext>
            </c:extLst>
          </c:dPt>
          <c:dPt>
            <c:idx val="1"/>
            <c:bubble3D val="0"/>
            <c:spPr>
              <a:solidFill>
                <a:schemeClr val="accent4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FF1A-4C83-943A-DFB52535F73C}"/>
              </c:ext>
            </c:extLst>
          </c:dPt>
          <c:dPt>
            <c:idx val="2"/>
            <c:bubble3D val="0"/>
            <c:spPr>
              <a:solidFill>
                <a:schemeClr val="bg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F1A-4C83-943A-DFB52535F73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Lit>
              <c:ptCount val="3"/>
              <c:pt idx="0">
                <c:v>Confirmed Working</c:v>
              </c:pt>
              <c:pt idx="1">
                <c:v>Partially Implemented</c:v>
              </c:pt>
              <c:pt idx="2">
                <c:v>Target Design</c:v>
              </c:pt>
            </c:strLit>
          </c:cat>
          <c:val>
            <c:numLit>
              <c:formatCode>General</c:formatCode>
              <c:ptCount val="3"/>
              <c:pt idx="0">
                <c:v>6</c:v>
              </c:pt>
              <c:pt idx="1">
                <c:v>2</c:v>
              </c:pt>
              <c:pt idx="2">
                <c:v>4</c:v>
              </c:pt>
            </c:numLit>
          </c:val>
          <c:extLst>
            <c:ext xmlns:c16="http://schemas.microsoft.com/office/drawing/2014/chart" uri="{C3380CC4-5D6E-409C-BE32-E72D297353CC}">
              <c16:uniqueId val="{00000000-51B9-4464-8FC9-4C3A859CA6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319338" y="685800"/>
            <a:ext cx="22193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1294431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19338" y="685800"/>
            <a:ext cx="22193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27912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112311" y="2526650"/>
            <a:ext cx="26499860" cy="917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body" idx="1"/>
          </p:nvPr>
        </p:nvSpPr>
        <p:spPr>
          <a:xfrm>
            <a:off x="2112311" y="12633169"/>
            <a:ext cx="26499860" cy="30110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81475" lvl="0" indent="-286105" algn="l">
              <a:lnSpc>
                <a:spcPct val="90000"/>
              </a:lnSpc>
              <a:spcBef>
                <a:spcPts val="24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762947" lvl="1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144424" lvl="2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525896" lvl="3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907370" lvl="4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150166" lvl="5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50166" lvl="6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150166" lvl="7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150166" lvl="8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2112321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10177487" y="43985383"/>
            <a:ext cx="10369510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21699176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ms" smtClean="0"/>
              <a:pPr/>
              <a:t>‹#›</a:t>
            </a:fld>
            <a:endParaRPr lang="m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2096312" y="11831245"/>
            <a:ext cx="26499860" cy="1974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716"/>
              <a:buFont typeface="Arial"/>
              <a:buNone/>
              <a:defRPr sz="1478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2096312" y="31758680"/>
            <a:ext cx="26499860" cy="10381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81475" lvl="0" indent="-190738" algn="l">
              <a:lnSpc>
                <a:spcPct val="90000"/>
              </a:lnSpc>
              <a:spcBef>
                <a:spcPts val="2465"/>
              </a:spcBef>
              <a:spcAft>
                <a:spcPts val="0"/>
              </a:spcAft>
              <a:buClr>
                <a:srgbClr val="888888"/>
              </a:buClr>
              <a:buSzPts val="7086"/>
              <a:buNone/>
              <a:defRPr sz="5911">
                <a:solidFill>
                  <a:srgbClr val="888888"/>
                </a:solidFill>
              </a:defRPr>
            </a:lvl1pPr>
            <a:lvl2pPr marL="762947" lvl="1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rgbClr val="888888"/>
              </a:buClr>
              <a:buSzPts val="5905"/>
              <a:buNone/>
              <a:defRPr sz="4926">
                <a:solidFill>
                  <a:srgbClr val="888888"/>
                </a:solidFill>
              </a:defRPr>
            </a:lvl2pPr>
            <a:lvl3pPr marL="1144424" lvl="2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rgbClr val="888888"/>
              </a:buClr>
              <a:buSzPts val="5315"/>
              <a:buNone/>
              <a:defRPr sz="4435">
                <a:solidFill>
                  <a:srgbClr val="888888"/>
                </a:solidFill>
              </a:defRPr>
            </a:lvl3pPr>
            <a:lvl4pPr marL="1525896" lvl="3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rgbClr val="888888"/>
              </a:buClr>
              <a:buSzPts val="4724"/>
              <a:buNone/>
              <a:defRPr sz="3942">
                <a:solidFill>
                  <a:srgbClr val="888888"/>
                </a:solidFill>
              </a:defRPr>
            </a:lvl4pPr>
            <a:lvl5pPr marL="1907370" lvl="4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rgbClr val="888888"/>
              </a:buClr>
              <a:buSzPts val="4724"/>
              <a:buNone/>
              <a:defRPr sz="3942">
                <a:solidFill>
                  <a:srgbClr val="888888"/>
                </a:solidFill>
              </a:defRPr>
            </a:lvl5pPr>
            <a:lvl6pPr marL="2150166" lvl="5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rgbClr val="888888"/>
              </a:buClr>
              <a:buSzPts val="4724"/>
              <a:buNone/>
              <a:defRPr sz="3942">
                <a:solidFill>
                  <a:srgbClr val="888888"/>
                </a:solidFill>
              </a:defRPr>
            </a:lvl6pPr>
            <a:lvl7pPr marL="2150166" lvl="6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rgbClr val="888888"/>
              </a:buClr>
              <a:buSzPts val="4724"/>
              <a:buNone/>
              <a:defRPr sz="3942">
                <a:solidFill>
                  <a:srgbClr val="888888"/>
                </a:solidFill>
              </a:defRPr>
            </a:lvl7pPr>
            <a:lvl8pPr marL="2150166" lvl="7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rgbClr val="888888"/>
              </a:buClr>
              <a:buSzPts val="4724"/>
              <a:buNone/>
              <a:defRPr sz="3942">
                <a:solidFill>
                  <a:srgbClr val="888888"/>
                </a:solidFill>
              </a:defRPr>
            </a:lvl8pPr>
            <a:lvl9pPr marL="2150166" lvl="8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rgbClr val="888888"/>
              </a:buClr>
              <a:buSzPts val="4724"/>
              <a:buNone/>
              <a:defRPr sz="3942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2112321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10177487" y="43985383"/>
            <a:ext cx="10369510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21699176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ms" smtClean="0"/>
              <a:pPr/>
              <a:t>‹#›</a:t>
            </a:fld>
            <a:endParaRPr lang="m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2112311" y="2526650"/>
            <a:ext cx="26499860" cy="917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2112315" y="12633169"/>
            <a:ext cx="13057902" cy="30110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81475" lvl="0" indent="-286105" algn="l">
              <a:lnSpc>
                <a:spcPct val="90000"/>
              </a:lnSpc>
              <a:spcBef>
                <a:spcPts val="24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762947" lvl="1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144424" lvl="2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525896" lvl="3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907370" lvl="4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150166" lvl="5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50166" lvl="6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150166" lvl="7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150166" lvl="8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15554270" y="12633169"/>
            <a:ext cx="13057902" cy="30110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81475" lvl="0" indent="-286105" algn="l">
              <a:lnSpc>
                <a:spcPct val="90000"/>
              </a:lnSpc>
              <a:spcBef>
                <a:spcPts val="24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762947" lvl="1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144424" lvl="2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525896" lvl="3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907370" lvl="4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150166" lvl="5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50166" lvl="6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150166" lvl="7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150166" lvl="8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2112321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10177487" y="43985383"/>
            <a:ext cx="10369510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21699176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ms" smtClean="0"/>
              <a:pPr/>
              <a:t>‹#›</a:t>
            </a:fld>
            <a:endParaRPr lang="m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2116311" y="2526650"/>
            <a:ext cx="26499860" cy="917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2116319" y="11633494"/>
            <a:ext cx="12997891" cy="5701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81475" lvl="0" indent="-190738" algn="l">
              <a:lnSpc>
                <a:spcPct val="90000"/>
              </a:lnSpc>
              <a:spcBef>
                <a:spcPts val="2465"/>
              </a:spcBef>
              <a:spcAft>
                <a:spcPts val="0"/>
              </a:spcAft>
              <a:buClr>
                <a:schemeClr val="dk1"/>
              </a:buClr>
              <a:buSzPts val="7086"/>
              <a:buNone/>
              <a:defRPr sz="5911" b="1"/>
            </a:lvl1pPr>
            <a:lvl2pPr marL="762947" lvl="1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5905"/>
              <a:buNone/>
              <a:defRPr sz="4926" b="1"/>
            </a:lvl2pPr>
            <a:lvl3pPr marL="1144424" lvl="2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5315"/>
              <a:buNone/>
              <a:defRPr sz="4435" b="1"/>
            </a:lvl3pPr>
            <a:lvl4pPr marL="1525896" lvl="3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3942" b="1"/>
            </a:lvl4pPr>
            <a:lvl5pPr marL="1907370" lvl="4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3942" b="1"/>
            </a:lvl5pPr>
            <a:lvl6pPr marL="2150166" lvl="5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3942" b="1"/>
            </a:lvl6pPr>
            <a:lvl7pPr marL="2150166" lvl="6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3942" b="1"/>
            </a:lvl7pPr>
            <a:lvl8pPr marL="2150166" lvl="7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3942" b="1"/>
            </a:lvl8pPr>
            <a:lvl9pPr marL="2150166" lvl="8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3942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2116319" y="17334900"/>
            <a:ext cx="12997891" cy="2549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81475" lvl="0" indent="-286105" algn="l">
              <a:lnSpc>
                <a:spcPct val="90000"/>
              </a:lnSpc>
              <a:spcBef>
                <a:spcPts val="24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762947" lvl="1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144424" lvl="2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525896" lvl="3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907370" lvl="4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150166" lvl="5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50166" lvl="6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150166" lvl="7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150166" lvl="8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15554279" y="11633494"/>
            <a:ext cx="13061906" cy="5701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81475" lvl="0" indent="-190738" algn="l">
              <a:lnSpc>
                <a:spcPct val="90000"/>
              </a:lnSpc>
              <a:spcBef>
                <a:spcPts val="2465"/>
              </a:spcBef>
              <a:spcAft>
                <a:spcPts val="0"/>
              </a:spcAft>
              <a:buClr>
                <a:schemeClr val="dk1"/>
              </a:buClr>
              <a:buSzPts val="7086"/>
              <a:buNone/>
              <a:defRPr sz="5911" b="1"/>
            </a:lvl1pPr>
            <a:lvl2pPr marL="762947" lvl="1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5905"/>
              <a:buNone/>
              <a:defRPr sz="4926" b="1"/>
            </a:lvl2pPr>
            <a:lvl3pPr marL="1144424" lvl="2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5315"/>
              <a:buNone/>
              <a:defRPr sz="4435" b="1"/>
            </a:lvl3pPr>
            <a:lvl4pPr marL="1525896" lvl="3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3942" b="1"/>
            </a:lvl4pPr>
            <a:lvl5pPr marL="1907370" lvl="4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3942" b="1"/>
            </a:lvl5pPr>
            <a:lvl6pPr marL="2150166" lvl="5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3942" b="1"/>
            </a:lvl6pPr>
            <a:lvl7pPr marL="2150166" lvl="6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3942" b="1"/>
            </a:lvl7pPr>
            <a:lvl8pPr marL="2150166" lvl="7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3942" b="1"/>
            </a:lvl8pPr>
            <a:lvl9pPr marL="2150166" lvl="8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3942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15554279" y="17334900"/>
            <a:ext cx="13061906" cy="2549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81475" lvl="0" indent="-286105" algn="l">
              <a:lnSpc>
                <a:spcPct val="90000"/>
              </a:lnSpc>
              <a:spcBef>
                <a:spcPts val="24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762947" lvl="1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144424" lvl="2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525896" lvl="3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907370" lvl="4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150166" lvl="5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50166" lvl="6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150166" lvl="7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150166" lvl="8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2112321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10177487" y="43985383"/>
            <a:ext cx="10369510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21699176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ms" smtClean="0"/>
              <a:pPr/>
              <a:t>‹#›</a:t>
            </a:fld>
            <a:endParaRPr lang="m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112311" y="2526650"/>
            <a:ext cx="26499860" cy="917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2112321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10177487" y="43985383"/>
            <a:ext cx="10369510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21699176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ms" smtClean="0"/>
              <a:pPr/>
              <a:t>‹#›</a:t>
            </a:fld>
            <a:endParaRPr lang="m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2112321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10177487" y="43985383"/>
            <a:ext cx="10369510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21699176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ms" smtClean="0"/>
              <a:pPr/>
              <a:t>‹#›</a:t>
            </a:fld>
            <a:endParaRPr lang="m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2116329" y="3163783"/>
            <a:ext cx="9909444" cy="110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49"/>
              <a:buFont typeface="Arial"/>
              <a:buNone/>
              <a:defRPr sz="7884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13061915" y="6832913"/>
            <a:ext cx="15554265" cy="33725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81475" lvl="0" indent="-691369" algn="l">
              <a:lnSpc>
                <a:spcPct val="90000"/>
              </a:lnSpc>
              <a:spcBef>
                <a:spcPts val="2465"/>
              </a:spcBef>
              <a:spcAft>
                <a:spcPts val="0"/>
              </a:spcAft>
              <a:buClr>
                <a:schemeClr val="dk1"/>
              </a:buClr>
              <a:buSzPts val="9449"/>
              <a:buChar char="•"/>
              <a:defRPr sz="7884"/>
            </a:lvl1pPr>
            <a:lvl2pPr marL="762947" lvl="1" indent="-628797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8268"/>
              <a:buChar char="•"/>
              <a:defRPr sz="6897"/>
            </a:lvl2pPr>
            <a:lvl3pPr marL="1144424" lvl="2" indent="-566173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7086"/>
              <a:buChar char="•"/>
              <a:defRPr sz="5911"/>
            </a:lvl3pPr>
            <a:lvl4pPr marL="1525896" lvl="3" indent="-50359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5905"/>
              <a:buChar char="•"/>
              <a:defRPr sz="4926"/>
            </a:lvl4pPr>
            <a:lvl5pPr marL="1907370" lvl="4" indent="-50359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5905"/>
              <a:buChar char="•"/>
              <a:defRPr sz="4926"/>
            </a:lvl5pPr>
            <a:lvl6pPr marL="2150166" lvl="5" indent="-50359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5905"/>
              <a:buChar char="•"/>
              <a:defRPr sz="4926"/>
            </a:lvl6pPr>
            <a:lvl7pPr marL="2150166" lvl="6" indent="-50359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5905"/>
              <a:buChar char="•"/>
              <a:defRPr sz="4926"/>
            </a:lvl7pPr>
            <a:lvl8pPr marL="2150166" lvl="7" indent="-50359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5905"/>
              <a:buChar char="•"/>
              <a:defRPr sz="4926"/>
            </a:lvl8pPr>
            <a:lvl9pPr marL="2150166" lvl="8" indent="-50359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5905"/>
              <a:buChar char="•"/>
              <a:defRPr sz="4926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2116329" y="14237037"/>
            <a:ext cx="9909444" cy="26375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81475" lvl="0" indent="-190738" algn="l">
              <a:lnSpc>
                <a:spcPct val="90000"/>
              </a:lnSpc>
              <a:spcBef>
                <a:spcPts val="2465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3942"/>
            </a:lvl1pPr>
            <a:lvl2pPr marL="762947" lvl="1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4134"/>
              <a:buNone/>
              <a:defRPr sz="3448"/>
            </a:lvl2pPr>
            <a:lvl3pPr marL="1144424" lvl="2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2955"/>
            </a:lvl3pPr>
            <a:lvl4pPr marL="1525896" lvl="3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465"/>
            </a:lvl4pPr>
            <a:lvl5pPr marL="1907370" lvl="4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465"/>
            </a:lvl5pPr>
            <a:lvl6pPr marL="2150166" lvl="5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465"/>
            </a:lvl6pPr>
            <a:lvl7pPr marL="2150166" lvl="6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465"/>
            </a:lvl7pPr>
            <a:lvl8pPr marL="2150166" lvl="7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465"/>
            </a:lvl8pPr>
            <a:lvl9pPr marL="2150166" lvl="8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465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2112321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10177487" y="43985383"/>
            <a:ext cx="10369510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21699176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ms" smtClean="0"/>
              <a:pPr/>
              <a:t>‹#›</a:t>
            </a:fld>
            <a:endParaRPr lang="m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2116329" y="3163783"/>
            <a:ext cx="9909444" cy="110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49"/>
              <a:buFont typeface="Arial"/>
              <a:buNone/>
              <a:defRPr sz="7884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13061915" y="6832913"/>
            <a:ext cx="15554265" cy="33725034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2116329" y="14237037"/>
            <a:ext cx="9909444" cy="26375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81475" lvl="0" indent="-190738" algn="l">
              <a:lnSpc>
                <a:spcPct val="90000"/>
              </a:lnSpc>
              <a:spcBef>
                <a:spcPts val="2465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3942"/>
            </a:lvl1pPr>
            <a:lvl2pPr marL="762947" lvl="1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4134"/>
              <a:buNone/>
              <a:defRPr sz="3448"/>
            </a:lvl2pPr>
            <a:lvl3pPr marL="1144424" lvl="2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2955"/>
            </a:lvl3pPr>
            <a:lvl4pPr marL="1525896" lvl="3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465"/>
            </a:lvl4pPr>
            <a:lvl5pPr marL="1907370" lvl="4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465"/>
            </a:lvl5pPr>
            <a:lvl6pPr marL="2150166" lvl="5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465"/>
            </a:lvl6pPr>
            <a:lvl7pPr marL="2150166" lvl="6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465"/>
            </a:lvl7pPr>
            <a:lvl8pPr marL="2150166" lvl="7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465"/>
            </a:lvl8pPr>
            <a:lvl9pPr marL="2150166" lvl="8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465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2112321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10177487" y="43985383"/>
            <a:ext cx="10369510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21699176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ms" smtClean="0"/>
              <a:pPr/>
              <a:t>‹#›</a:t>
            </a:fld>
            <a:endParaRPr lang="m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2112311" y="2526650"/>
            <a:ext cx="26499860" cy="917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306828" y="14438660"/>
            <a:ext cx="30110856" cy="26499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81475" lvl="0" indent="-286105" algn="l">
              <a:lnSpc>
                <a:spcPct val="90000"/>
              </a:lnSpc>
              <a:spcBef>
                <a:spcPts val="24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762947" lvl="1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144424" lvl="2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525896" lvl="3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907370" lvl="4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150166" lvl="5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50166" lvl="6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150166" lvl="7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150166" lvl="8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2112321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10177487" y="43985383"/>
            <a:ext cx="10369510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21699176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ms" smtClean="0"/>
              <a:pPr/>
              <a:t>‹#›</a:t>
            </a:fld>
            <a:endParaRPr lang="m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5191006" y="19322854"/>
            <a:ext cx="40217381" cy="6624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8250955" y="12889915"/>
            <a:ext cx="40217381" cy="19490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81475" lvl="0" indent="-286105" algn="l">
              <a:lnSpc>
                <a:spcPct val="90000"/>
              </a:lnSpc>
              <a:spcBef>
                <a:spcPts val="24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762947" lvl="1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144424" lvl="2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525896" lvl="3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907370" lvl="4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150166" lvl="5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50166" lvl="6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150166" lvl="7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150166" lvl="8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2112321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10177487" y="43985383"/>
            <a:ext cx="10369510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21699176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ms" smtClean="0"/>
              <a:pPr/>
              <a:t>‹#›</a:t>
            </a:fld>
            <a:endParaRPr lang="m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2112311" y="2526650"/>
            <a:ext cx="26499860" cy="917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992"/>
              <a:buFont typeface="Arial"/>
              <a:buNone/>
              <a:defRPr sz="1299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2112311" y="12633169"/>
            <a:ext cx="26499860" cy="30110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53618" algn="l" rtl="0">
              <a:lnSpc>
                <a:spcPct val="90000"/>
              </a:lnSpc>
              <a:spcBef>
                <a:spcPts val="2953"/>
              </a:spcBef>
              <a:spcAft>
                <a:spcPts val="0"/>
              </a:spcAft>
              <a:buClr>
                <a:schemeClr val="dk1"/>
              </a:buClr>
              <a:buSzPts val="8268"/>
              <a:buFont typeface="Arial"/>
              <a:buChar char="•"/>
              <a:defRPr sz="826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78561" algn="l" rtl="0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7086"/>
              <a:buFont typeface="Arial"/>
              <a:buChar char="•"/>
              <a:defRPr sz="708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3567" algn="l" rtl="0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5905"/>
              <a:buFont typeface="Arial"/>
              <a:buChar char="•"/>
              <a:defRPr sz="590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66102" algn="l" rtl="0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5315"/>
              <a:buFont typeface="Arial"/>
              <a:buChar char="•"/>
              <a:defRPr sz="531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66102" algn="l" rtl="0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5315"/>
              <a:buFont typeface="Arial"/>
              <a:buChar char="•"/>
              <a:defRPr sz="531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66102" algn="l" rtl="0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5315"/>
              <a:buFont typeface="Arial"/>
              <a:buChar char="•"/>
              <a:defRPr sz="531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66102" algn="l" rtl="0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5315"/>
              <a:buFont typeface="Arial"/>
              <a:buChar char="•"/>
              <a:defRPr sz="531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66102" algn="l" rtl="0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5315"/>
              <a:buFont typeface="Arial"/>
              <a:buChar char="•"/>
              <a:defRPr sz="531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66102" algn="l" rtl="0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5315"/>
              <a:buFont typeface="Arial"/>
              <a:buChar char="•"/>
              <a:defRPr sz="531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2112321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10177487" y="43985383"/>
            <a:ext cx="10369510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21699176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ms" smtClean="0"/>
              <a:pPr/>
              <a:t>‹#›</a:t>
            </a:fld>
            <a:endParaRPr lang="m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chart" Target="../charts/chart1.xm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5" Type="http://schemas.openxmlformats.org/officeDocument/2006/relationships/image" Target="../media/image13.svg"/><Relationship Id="rId10" Type="http://schemas.openxmlformats.org/officeDocument/2006/relationships/image" Target="../media/image8.svg"/><Relationship Id="rId19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29176" y="50350"/>
            <a:ext cx="30724476" cy="5283321"/>
          </a:xfrm>
          <a:prstGeom prst="rect">
            <a:avLst/>
          </a:prstGeom>
          <a:solidFill>
            <a:srgbClr val="5CC6D8"/>
          </a:soli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71691" tIns="38140" rIns="171691" bIns="38140" anchor="ctr" anchorCtr="0">
            <a:noAutofit/>
          </a:bodyPr>
          <a:lstStyle/>
          <a:p>
            <a:pPr algn="ctr">
              <a:buSzPts val="3600"/>
            </a:pPr>
            <a:endParaRPr sz="3004" b="1" dirty="0">
              <a:solidFill>
                <a:schemeClr val="lt1"/>
              </a:solidFill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5301465" y="3436615"/>
            <a:ext cx="15755053" cy="1401206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lt1"/>
              </a:buClr>
              <a:buSzPts val="8000"/>
            </a:pPr>
            <a:r>
              <a:rPr lang="en-US" sz="4600" b="1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Libre Franklin Black"/>
              </a:rPr>
              <a:t>AgeixAISOC — AI-Orchestrated Cyber Defense Platform</a:t>
            </a:r>
          </a:p>
        </p:txBody>
      </p:sp>
      <p:sp>
        <p:nvSpPr>
          <p:cNvPr id="86" name="Google Shape;86;p1"/>
          <p:cNvSpPr txBox="1"/>
          <p:nvPr/>
        </p:nvSpPr>
        <p:spPr>
          <a:xfrm>
            <a:off x="450994" y="665653"/>
            <a:ext cx="6268885" cy="3590727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chemeClr val="lt1"/>
              </a:buClr>
              <a:buSzPts val="5400"/>
            </a:pPr>
            <a:r>
              <a:rPr lang="en-US" sz="4400" u="sng" dirty="0">
                <a:solidFill>
                  <a:schemeClr val="tx1"/>
                </a:solidFill>
                <a:latin typeface="Titillium Web"/>
                <a:ea typeface="Titillium Web"/>
                <a:cs typeface="Titillium Web"/>
                <a:sym typeface="Titillium Web"/>
              </a:rPr>
              <a:t>Presented by:</a:t>
            </a:r>
          </a:p>
          <a:p>
            <a:pPr>
              <a:spcBef>
                <a:spcPts val="400"/>
              </a:spcBef>
              <a:buClr>
                <a:schemeClr val="lt1"/>
              </a:buClr>
              <a:buSzPts val="5400"/>
            </a:pPr>
            <a:r>
              <a:rPr lang="en-US" sz="4400" b="1" dirty="0">
                <a:solidFill>
                  <a:schemeClr val="tx1"/>
                </a:solidFill>
                <a:latin typeface="Titillium Web"/>
                <a:sym typeface="Titillium Web"/>
              </a:rPr>
              <a:t>Aziz Ragab </a:t>
            </a:r>
          </a:p>
          <a:p>
            <a:pPr>
              <a:spcBef>
                <a:spcPts val="400"/>
              </a:spcBef>
              <a:buClr>
                <a:schemeClr val="lt1"/>
              </a:buClr>
              <a:buSzPts val="5400"/>
            </a:pPr>
            <a:r>
              <a:rPr lang="en-US" sz="4400" b="1" dirty="0">
                <a:solidFill>
                  <a:schemeClr val="tx1"/>
                </a:solidFill>
                <a:latin typeface="Titillium Web"/>
                <a:sym typeface="Titillium Web"/>
              </a:rPr>
              <a:t>Emad Hassan</a:t>
            </a:r>
            <a:r>
              <a:rPr lang="ar-EG" sz="4400" b="1" dirty="0">
                <a:solidFill>
                  <a:schemeClr val="tx1"/>
                </a:solidFill>
                <a:latin typeface="Titillium Web"/>
                <a:sym typeface="Titillium Web"/>
              </a:rPr>
              <a:t> </a:t>
            </a:r>
            <a:endParaRPr lang="en-US" sz="4400" b="1" dirty="0">
              <a:solidFill>
                <a:schemeClr val="tx1"/>
              </a:solidFill>
              <a:latin typeface="Titillium Web"/>
              <a:sym typeface="Titillium Web"/>
            </a:endParaRPr>
          </a:p>
          <a:p>
            <a:pPr>
              <a:spcBef>
                <a:spcPts val="400"/>
              </a:spcBef>
              <a:buClr>
                <a:schemeClr val="lt1"/>
              </a:buClr>
              <a:buSzPts val="5400"/>
            </a:pPr>
            <a:r>
              <a:rPr lang="en-US" sz="4400" b="1" dirty="0">
                <a:solidFill>
                  <a:schemeClr val="tx1"/>
                </a:solidFill>
                <a:latin typeface="Titillium Web"/>
                <a:sym typeface="Titillium Web"/>
              </a:rPr>
              <a:t>Mohamed Hany</a:t>
            </a:r>
          </a:p>
          <a:p>
            <a:pPr>
              <a:spcBef>
                <a:spcPts val="400"/>
              </a:spcBef>
              <a:buClr>
                <a:schemeClr val="lt1"/>
              </a:buClr>
              <a:buSzPts val="5400"/>
            </a:pPr>
            <a:r>
              <a:rPr lang="en-US" sz="4400" b="1" dirty="0">
                <a:solidFill>
                  <a:schemeClr val="tx1"/>
                </a:solidFill>
                <a:latin typeface="Titillium Web"/>
                <a:sym typeface="Titillium Web"/>
              </a:rPr>
              <a:t>Taha Alghonaimi</a:t>
            </a:r>
          </a:p>
        </p:txBody>
      </p:sp>
      <p:sp>
        <p:nvSpPr>
          <p:cNvPr id="87" name="Google Shape;87;p1"/>
          <p:cNvSpPr/>
          <p:nvPr/>
        </p:nvSpPr>
        <p:spPr>
          <a:xfrm>
            <a:off x="0" y="5539452"/>
            <a:ext cx="20230005" cy="909845"/>
          </a:xfrm>
          <a:prstGeom prst="rect">
            <a:avLst/>
          </a:prstGeom>
          <a:solidFill>
            <a:srgbClr val="5CC6D8"/>
          </a:soli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71691" tIns="38140" rIns="171691" bIns="38140" anchor="ctr" anchorCtr="0">
            <a:noAutofit/>
          </a:bodyPr>
          <a:lstStyle/>
          <a:p>
            <a:pPr algn="ctr">
              <a:buSzPts val="6600"/>
            </a:pPr>
            <a:r>
              <a:rPr lang="ms" sz="5506" b="1" dirty="0">
                <a:solidFill>
                  <a:schemeClr val="lt1"/>
                </a:solidFill>
              </a:rPr>
              <a:t>ABSTRACT</a:t>
            </a:r>
            <a:endParaRPr sz="984" dirty="0"/>
          </a:p>
        </p:txBody>
      </p:sp>
      <p:sp>
        <p:nvSpPr>
          <p:cNvPr id="88" name="Google Shape;88;p1"/>
          <p:cNvSpPr/>
          <p:nvPr/>
        </p:nvSpPr>
        <p:spPr>
          <a:xfrm>
            <a:off x="533857" y="30048873"/>
            <a:ext cx="9920949" cy="962984"/>
          </a:xfrm>
          <a:prstGeom prst="rect">
            <a:avLst/>
          </a:prstGeom>
          <a:solidFill>
            <a:srgbClr val="5CC6D8"/>
          </a:soli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71691" tIns="38140" rIns="171691" bIns="38140" anchor="ctr" anchorCtr="0">
            <a:noAutofit/>
          </a:bodyPr>
          <a:lstStyle/>
          <a:p>
            <a:pPr algn="ctr">
              <a:buSzPts val="4800"/>
            </a:pPr>
            <a:r>
              <a:rPr lang="en-US" sz="3600" b="1">
                <a:solidFill>
                  <a:schemeClr val="lt1"/>
                </a:solidFill>
              </a:rPr>
              <a:t>LAB ENVIRONMENT</a:t>
            </a:r>
            <a:endParaRPr sz="984"/>
          </a:p>
        </p:txBody>
      </p:sp>
      <p:sp>
        <p:nvSpPr>
          <p:cNvPr id="89" name="Google Shape;89;p1"/>
          <p:cNvSpPr/>
          <p:nvPr/>
        </p:nvSpPr>
        <p:spPr>
          <a:xfrm>
            <a:off x="10840843" y="29980917"/>
            <a:ext cx="9448041" cy="964487"/>
          </a:xfrm>
          <a:prstGeom prst="rect">
            <a:avLst/>
          </a:prstGeom>
          <a:solidFill>
            <a:srgbClr val="5CC6D8"/>
          </a:soli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71691" tIns="38140" rIns="171691" bIns="38140" anchor="ctr" anchorCtr="0">
            <a:noAutofit/>
          </a:bodyPr>
          <a:lstStyle/>
          <a:p>
            <a:pPr algn="ctr">
              <a:buSzPts val="4800"/>
            </a:pPr>
            <a:r>
              <a:rPr lang="ms" sz="4005" b="1">
                <a:solidFill>
                  <a:schemeClr val="lt1"/>
                </a:solidFill>
              </a:rPr>
              <a:t>METHODOLOGY</a:t>
            </a:r>
            <a:endParaRPr sz="984"/>
          </a:p>
        </p:txBody>
      </p:sp>
      <p:sp>
        <p:nvSpPr>
          <p:cNvPr id="90" name="Google Shape;90;p1"/>
          <p:cNvSpPr/>
          <p:nvPr/>
        </p:nvSpPr>
        <p:spPr>
          <a:xfrm>
            <a:off x="20691969" y="5654398"/>
            <a:ext cx="9425678" cy="1081069"/>
          </a:xfrm>
          <a:prstGeom prst="rect">
            <a:avLst/>
          </a:prstGeom>
          <a:solidFill>
            <a:srgbClr val="5CC6D8"/>
          </a:soli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71691" tIns="38140" rIns="171691" bIns="38140" anchor="ctr" anchorCtr="0">
            <a:noAutofit/>
          </a:bodyPr>
          <a:lstStyle/>
          <a:p>
            <a:pPr algn="ctr">
              <a:buSzPts val="6000"/>
            </a:pPr>
            <a:r>
              <a:rPr lang="ms" sz="5009" b="1">
                <a:solidFill>
                  <a:schemeClr val="lt1"/>
                </a:solidFill>
              </a:rPr>
              <a:t>RESULTS</a:t>
            </a:r>
            <a:endParaRPr sz="984"/>
          </a:p>
        </p:txBody>
      </p:sp>
      <p:sp>
        <p:nvSpPr>
          <p:cNvPr id="93" name="Google Shape;93;p1"/>
          <p:cNvSpPr/>
          <p:nvPr/>
        </p:nvSpPr>
        <p:spPr>
          <a:xfrm>
            <a:off x="1970233" y="14626702"/>
            <a:ext cx="15862567" cy="1058368"/>
          </a:xfrm>
          <a:prstGeom prst="rect">
            <a:avLst/>
          </a:prstGeom>
          <a:solidFill>
            <a:srgbClr val="5CC6D8"/>
          </a:soli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71691" tIns="38140" rIns="171691" bIns="38140" anchor="ctr" anchorCtr="0">
            <a:noAutofit/>
          </a:bodyPr>
          <a:lstStyle/>
          <a:p>
            <a:pPr algn="ctr">
              <a:buSzPts val="6000"/>
            </a:pPr>
            <a:r>
              <a:rPr lang="ms" sz="5009" b="1" dirty="0">
                <a:solidFill>
                  <a:schemeClr val="lt1"/>
                </a:solidFill>
              </a:rPr>
              <a:t>Aim of the work </a:t>
            </a:r>
            <a:endParaRPr sz="984" dirty="0"/>
          </a:p>
        </p:txBody>
      </p:sp>
      <p:sp>
        <p:nvSpPr>
          <p:cNvPr id="94" name="Google Shape;94;p1"/>
          <p:cNvSpPr/>
          <p:nvPr/>
        </p:nvSpPr>
        <p:spPr>
          <a:xfrm>
            <a:off x="533857" y="41539999"/>
            <a:ext cx="10018654" cy="819334"/>
          </a:xfrm>
          <a:prstGeom prst="rect">
            <a:avLst/>
          </a:prstGeom>
          <a:solidFill>
            <a:srgbClr val="5CC6D8"/>
          </a:soli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71691" tIns="38140" rIns="171691" bIns="38140" anchor="ctr" anchorCtr="0">
            <a:noAutofit/>
          </a:bodyPr>
          <a:lstStyle/>
          <a:p>
            <a:pPr algn="ctr">
              <a:buSzPts val="6000"/>
            </a:pPr>
            <a:r>
              <a:rPr lang="ms" sz="5009" b="1" dirty="0">
                <a:solidFill>
                  <a:schemeClr val="lt1"/>
                </a:solidFill>
              </a:rPr>
              <a:t>USED TOOLS</a:t>
            </a:r>
            <a:endParaRPr sz="984" dirty="0"/>
          </a:p>
        </p:txBody>
      </p:sp>
      <p:sp>
        <p:nvSpPr>
          <p:cNvPr id="95" name="Google Shape;95;p1"/>
          <p:cNvSpPr/>
          <p:nvPr/>
        </p:nvSpPr>
        <p:spPr>
          <a:xfrm>
            <a:off x="1970233" y="20067571"/>
            <a:ext cx="15862567" cy="1352167"/>
          </a:xfrm>
          <a:prstGeom prst="rect">
            <a:avLst/>
          </a:prstGeom>
          <a:solidFill>
            <a:srgbClr val="5CC6D8"/>
          </a:soli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71691" tIns="38140" rIns="171691" bIns="38140" anchor="ctr" anchorCtr="0">
            <a:noAutofit/>
          </a:bodyPr>
          <a:lstStyle/>
          <a:p>
            <a:pPr marL="381475" lvl="1" algn="ctr">
              <a:buSzPts val="6600"/>
            </a:pPr>
            <a:r>
              <a:rPr lang="ms" sz="5506" b="1" dirty="0">
                <a:solidFill>
                  <a:schemeClr val="lt1"/>
                </a:solidFill>
              </a:rPr>
              <a:t>SYSTEM OVERVIEW</a:t>
            </a:r>
            <a:endParaRPr sz="984" dirty="0"/>
          </a:p>
        </p:txBody>
      </p:sp>
      <p:sp>
        <p:nvSpPr>
          <p:cNvPr id="97" name="Google Shape;97;p1"/>
          <p:cNvSpPr/>
          <p:nvPr/>
        </p:nvSpPr>
        <p:spPr>
          <a:xfrm>
            <a:off x="20648357" y="23941564"/>
            <a:ext cx="9350150" cy="1349728"/>
          </a:xfrm>
          <a:prstGeom prst="rect">
            <a:avLst/>
          </a:prstGeom>
          <a:solidFill>
            <a:srgbClr val="5CC6D8"/>
          </a:soli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71691" tIns="38140" rIns="171691" bIns="38140" anchor="ctr" anchorCtr="0">
            <a:noAutofit/>
          </a:bodyPr>
          <a:lstStyle/>
          <a:p>
            <a:pPr algn="ctr">
              <a:buSzPts val="6000"/>
            </a:pPr>
            <a:r>
              <a:rPr lang="ms" sz="5009" b="1" dirty="0">
                <a:solidFill>
                  <a:schemeClr val="lt1"/>
                </a:solidFill>
              </a:rPr>
              <a:t>Demos, and Presentation.</a:t>
            </a:r>
            <a:endParaRPr sz="984" dirty="0"/>
          </a:p>
        </p:txBody>
      </p:sp>
      <p:sp>
        <p:nvSpPr>
          <p:cNvPr id="98" name="Google Shape;98;p1"/>
          <p:cNvSpPr/>
          <p:nvPr/>
        </p:nvSpPr>
        <p:spPr>
          <a:xfrm>
            <a:off x="20687919" y="30080636"/>
            <a:ext cx="9354210" cy="1167142"/>
          </a:xfrm>
          <a:prstGeom prst="rect">
            <a:avLst/>
          </a:prstGeom>
          <a:solidFill>
            <a:srgbClr val="5CC6D8"/>
          </a:soli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71691" tIns="38140" rIns="171691" bIns="38140" anchor="ctr" anchorCtr="0">
            <a:noAutofit/>
          </a:bodyPr>
          <a:lstStyle/>
          <a:p>
            <a:pPr algn="ctr">
              <a:buSzPts val="6000"/>
            </a:pPr>
            <a:r>
              <a:rPr lang="ms" sz="5009" b="1" dirty="0">
                <a:solidFill>
                  <a:schemeClr val="lt1"/>
                </a:solidFill>
              </a:rPr>
              <a:t>Conclusion</a:t>
            </a:r>
            <a:endParaRPr sz="984" dirty="0"/>
          </a:p>
        </p:txBody>
      </p:sp>
      <p:sp>
        <p:nvSpPr>
          <p:cNvPr id="99" name="Google Shape;99;p1"/>
          <p:cNvSpPr/>
          <p:nvPr/>
        </p:nvSpPr>
        <p:spPr>
          <a:xfrm>
            <a:off x="29177" y="6538903"/>
            <a:ext cx="20154474" cy="8107227"/>
          </a:xfrm>
          <a:prstGeom prst="rect">
            <a:avLst/>
          </a:prstGeom>
          <a:noFill/>
          <a:ln w="1270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6301" tIns="38140" rIns="76301" bIns="38140" anchor="ctr" anchorCtr="0">
            <a:noAutofit/>
          </a:bodyPr>
          <a:lstStyle/>
          <a:p>
            <a:pPr algn="ctr">
              <a:buSzPts val="1800"/>
            </a:pPr>
            <a:endParaRPr sz="1502">
              <a:solidFill>
                <a:schemeClr val="lt1"/>
              </a:solidFill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577480" y="30018784"/>
            <a:ext cx="9924523" cy="11449605"/>
          </a:xfrm>
          <a:prstGeom prst="rect">
            <a:avLst/>
          </a:prstGeom>
          <a:noFill/>
          <a:ln w="1270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6301" tIns="38140" rIns="76301" bIns="38140" anchor="ctr" anchorCtr="0">
            <a:noAutofit/>
          </a:bodyPr>
          <a:lstStyle/>
          <a:p>
            <a:pPr algn="ctr">
              <a:buSzPts val="1800"/>
            </a:pPr>
            <a:endParaRPr sz="1502" dirty="0">
              <a:solidFill>
                <a:schemeClr val="lt1"/>
              </a:solidFill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20724400" y="5921285"/>
            <a:ext cx="9355607" cy="17716101"/>
          </a:xfrm>
          <a:prstGeom prst="rect">
            <a:avLst/>
          </a:prstGeom>
          <a:noFill/>
          <a:ln w="1270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6301" tIns="38140" rIns="76301" bIns="38140" anchor="ctr" anchorCtr="0">
            <a:noAutofit/>
          </a:bodyPr>
          <a:lstStyle/>
          <a:p>
            <a:pPr algn="ctr">
              <a:buSzPts val="1800"/>
            </a:pPr>
            <a:endParaRPr sz="1502">
              <a:solidFill>
                <a:schemeClr val="lt1"/>
              </a:solidFill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10860338" y="30035585"/>
            <a:ext cx="9448041" cy="16932461"/>
          </a:xfrm>
          <a:prstGeom prst="rect">
            <a:avLst/>
          </a:prstGeom>
          <a:noFill/>
          <a:ln w="1270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6301" tIns="38140" rIns="76301" bIns="38140" anchor="ctr" anchorCtr="0">
            <a:noAutofit/>
          </a:bodyPr>
          <a:lstStyle/>
          <a:p>
            <a:pPr algn="ctr">
              <a:buSzPts val="1800"/>
            </a:pPr>
            <a:endParaRPr sz="1502">
              <a:solidFill>
                <a:schemeClr val="lt1"/>
              </a:solidFill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20691969" y="24138754"/>
            <a:ext cx="9388038" cy="5775291"/>
          </a:xfrm>
          <a:prstGeom prst="rect">
            <a:avLst/>
          </a:prstGeom>
          <a:noFill/>
          <a:ln w="1270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6301" tIns="38140" rIns="76301" bIns="38140" anchor="ctr" anchorCtr="0">
            <a:noAutofit/>
          </a:bodyPr>
          <a:lstStyle/>
          <a:p>
            <a:pPr algn="ctr">
              <a:buSzPts val="1800"/>
            </a:pPr>
            <a:endParaRPr sz="1502">
              <a:solidFill>
                <a:schemeClr val="lt1"/>
              </a:solidFill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20688200" y="30157370"/>
            <a:ext cx="9353929" cy="7278769"/>
          </a:xfrm>
          <a:prstGeom prst="rect">
            <a:avLst/>
          </a:prstGeom>
          <a:noFill/>
          <a:ln w="1270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6301" tIns="38140" rIns="76301" bIns="38140" anchor="ctr" anchorCtr="0">
            <a:noAutofit/>
          </a:bodyPr>
          <a:lstStyle/>
          <a:p>
            <a:pPr algn="ctr">
              <a:buSzPts val="1800"/>
            </a:pPr>
            <a:endParaRPr sz="1502">
              <a:solidFill>
                <a:schemeClr val="lt1"/>
              </a:solidFill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20687919" y="38783131"/>
            <a:ext cx="9397831" cy="8120993"/>
          </a:xfrm>
          <a:prstGeom prst="rect">
            <a:avLst/>
          </a:prstGeom>
          <a:solidFill>
            <a:schemeClr val="lt1"/>
          </a:solidFill>
          <a:ln w="1270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6301" tIns="38140" rIns="76301" bIns="38140" anchor="ctr" anchorCtr="0">
            <a:noAutofit/>
          </a:bodyPr>
          <a:lstStyle/>
          <a:p>
            <a:pPr marL="571500" indent="-571500">
              <a:buSzPts val="1800"/>
              <a:buFont typeface="Arial" panose="020B0604020202020204" pitchFamily="34" charset="0"/>
              <a:buChar char="•"/>
            </a:pPr>
            <a:r>
              <a:rPr lang="en-US" sz="3200" dirty="0"/>
              <a:t>Resolve the FortiGate SOAR authentication issue to complete automated response actions</a:t>
            </a:r>
          </a:p>
          <a:p>
            <a:pPr marL="571500" indent="-571500">
              <a:buSzPts val="1800"/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571500" indent="-571500">
              <a:buSzPts val="1800"/>
              <a:buFont typeface="Arial" panose="020B0604020202020204" pitchFamily="34" charset="0"/>
              <a:buChar char="•"/>
            </a:pPr>
            <a:r>
              <a:rPr lang="en-US" sz="3200" dirty="0"/>
              <a:t>Replace remaining mock data in the analyst dashboard with live pipeline data</a:t>
            </a:r>
          </a:p>
          <a:p>
            <a:pPr marL="571500" indent="-571500">
              <a:buSzPts val="1800"/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571500" indent="-571500">
              <a:buSzPts val="1800"/>
              <a:buFont typeface="Arial" panose="020B0604020202020204" pitchFamily="34" charset="0"/>
              <a:buChar char="•"/>
            </a:pPr>
            <a:r>
              <a:rPr lang="en-US" sz="3200" dirty="0"/>
              <a:t>Build the automated Detection-Gap Loop and expand the RAG threat-intelligence layer</a:t>
            </a:r>
          </a:p>
          <a:p>
            <a:pPr>
              <a:buSzPts val="1800"/>
            </a:pPr>
            <a:endParaRPr lang="en-US" sz="3200" dirty="0"/>
          </a:p>
          <a:p>
            <a:pPr marL="571500" indent="-571500">
              <a:buSzPts val="1800"/>
              <a:buFont typeface="Arial" panose="020B0604020202020204" pitchFamily="34" charset="0"/>
              <a:buChar char="•"/>
            </a:pPr>
            <a:endParaRPr lang="en-US" sz="3200" dirty="0"/>
          </a:p>
          <a:p>
            <a:pPr algn="ctr">
              <a:buSzPts val="1800"/>
            </a:pPr>
            <a:endParaRPr sz="4400" dirty="0"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lt1"/>
              </a:solidFill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20688200" y="37602730"/>
            <a:ext cx="9458795" cy="938578"/>
          </a:xfrm>
          <a:prstGeom prst="rect">
            <a:avLst/>
          </a:prstGeom>
          <a:solidFill>
            <a:srgbClr val="5CC6D8"/>
          </a:soli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71691" tIns="38140" rIns="171691" bIns="38140" anchor="ctr" anchorCtr="0">
            <a:noAutofit/>
          </a:bodyPr>
          <a:lstStyle/>
          <a:p>
            <a:pPr algn="ctr">
              <a:buSzPts val="5800"/>
            </a:pPr>
            <a:r>
              <a:rPr lang="ms" sz="4840" b="1" dirty="0">
                <a:solidFill>
                  <a:schemeClr val="lt1"/>
                </a:solidFill>
              </a:rPr>
              <a:t>Future Work</a:t>
            </a:r>
            <a:r>
              <a:rPr lang="ms" sz="5009" b="1" dirty="0">
                <a:solidFill>
                  <a:schemeClr val="lt1"/>
                </a:solidFill>
              </a:rPr>
              <a:t> </a:t>
            </a:r>
            <a:endParaRPr sz="984" dirty="0"/>
          </a:p>
        </p:txBody>
      </p:sp>
      <p:sp>
        <p:nvSpPr>
          <p:cNvPr id="113" name="Google Shape;113;p1"/>
          <p:cNvSpPr/>
          <p:nvPr/>
        </p:nvSpPr>
        <p:spPr>
          <a:xfrm>
            <a:off x="29178" y="47466381"/>
            <a:ext cx="30724474" cy="551931"/>
          </a:xfrm>
          <a:prstGeom prst="rect">
            <a:avLst/>
          </a:prstGeom>
          <a:solidFill>
            <a:srgbClr val="5CC6D8"/>
          </a:soli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6301" tIns="38140" rIns="76301" bIns="38140" anchor="ctr" anchorCtr="0">
            <a:noAutofit/>
          </a:bodyPr>
          <a:lstStyle/>
          <a:p>
            <a:pPr algn="ctr">
              <a:buSzPts val="1800"/>
            </a:pPr>
            <a:endParaRPr sz="1502">
              <a:solidFill>
                <a:schemeClr val="lt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91256B-7B1C-5FA6-9141-FC03145A2FFD}"/>
              </a:ext>
            </a:extLst>
          </p:cNvPr>
          <p:cNvSpPr txBox="1"/>
          <p:nvPr/>
        </p:nvSpPr>
        <p:spPr>
          <a:xfrm>
            <a:off x="612820" y="6975697"/>
            <a:ext cx="1908753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AgeixAISOC is an AI-orchestrated Security Operations Center platform built on one principle: AI detects, correlates, scores, and recommends — a human analyst keeps final authority over every high-impact action. A LangGraph orchestrator coordinates specialized CrewAI agents (detection, risk scoring, threat hunting, recommendation) on top of a live Wazuh SIEM integration, targeting the industry problem of 10,000+ daily alerts with ~70% false positives and multi-month breach-detection times.</a:t>
            </a:r>
          </a:p>
        </p:txBody>
      </p:sp>
      <p:sp>
        <p:nvSpPr>
          <p:cNvPr id="6" name="Google Shape;108;p1">
            <a:extLst>
              <a:ext uri="{FF2B5EF4-FFF2-40B4-BE49-F238E27FC236}">
                <a16:creationId xmlns:a16="http://schemas.microsoft.com/office/drawing/2014/main" id="{F2C7D204-A9C4-0F6B-E50D-E974AB15F5F8}"/>
              </a:ext>
            </a:extLst>
          </p:cNvPr>
          <p:cNvSpPr/>
          <p:nvPr/>
        </p:nvSpPr>
        <p:spPr>
          <a:xfrm>
            <a:off x="684388" y="42444862"/>
            <a:ext cx="9918907" cy="4895920"/>
          </a:xfrm>
          <a:prstGeom prst="rect">
            <a:avLst/>
          </a:prstGeom>
          <a:solidFill>
            <a:schemeClr val="lt1"/>
          </a:solidFill>
          <a:ln w="1270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6301" tIns="38140" rIns="76301" bIns="38140" anchor="ctr" anchorCtr="0">
            <a:noAutofit/>
          </a:bodyPr>
          <a:lstStyle/>
          <a:p>
            <a:pPr algn="ctr">
              <a:buSzPts val="1800"/>
            </a:pPr>
            <a:endParaRPr sz="1502" dirty="0">
              <a:solidFill>
                <a:schemeClr val="l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1A535B-E6AA-F64D-6BDD-229F54597BD5}"/>
              </a:ext>
            </a:extLst>
          </p:cNvPr>
          <p:cNvSpPr txBox="1"/>
          <p:nvPr/>
        </p:nvSpPr>
        <p:spPr>
          <a:xfrm>
            <a:off x="1003300" y="31369000"/>
            <a:ext cx="8890000" cy="9525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Isolated network: FortiGate firewall, Wazuh SIEM manager + agent, Active Directory domain controller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Attacker host (Kali Linux) plus vulnerable targets: Windows 10 (Sysmon), Ubuntu, Metasploitable 2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Detection and orchestration logic validated against realistic, repeatable attack scenarios with zero risk to production systems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3 of 3 attack scenarios were detected end-to-end, from Wazuh alert to a produced HITL decision card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3DCED9-40F3-6199-9623-48152B0F779C}"/>
              </a:ext>
            </a:extLst>
          </p:cNvPr>
          <p:cNvSpPr txBox="1"/>
          <p:nvPr/>
        </p:nvSpPr>
        <p:spPr>
          <a:xfrm>
            <a:off x="2524540" y="16015246"/>
            <a:ext cx="141632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Give SOC analysts a governed AI teammate: automate the detection, correlation, and scoring workload that causes triage burnout, while a mandatory Human-in-the-Loop approval gate keeps a person in control of every consequential action — producing a fully auditable decision trail for every alert.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33D875C-C58A-62EC-469C-93F1417DD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6" y="15722946"/>
            <a:ext cx="20615119" cy="444080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F32468C-120A-52FF-2142-07C53B1648AC}"/>
              </a:ext>
            </a:extLst>
          </p:cNvPr>
          <p:cNvSpPr txBox="1"/>
          <p:nvPr/>
        </p:nvSpPr>
        <p:spPr>
          <a:xfrm>
            <a:off x="11537124" y="31327802"/>
            <a:ext cx="7982194" cy="12126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dirty="0"/>
              <a:t>How AgeixAISOC processes an alert, end to end: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400" dirty="0"/>
              <a:t>Ingestion: Wazuh SIEM streams live alerts from lab hosts into the platform via webhook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400" dirty="0"/>
              <a:t>Orchestration: a LangGraph master orchestrator sequences the Detection, Risk Scoring, Threat Hunter and Recommendation agents (CrewAI)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400" dirty="0"/>
              <a:t>Human-in-the-Loop: every recommendation becomes a decision card — an analyst must Approve, Modify, Reject or Request Info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400" dirty="0"/>
              <a:t>Execution and audit: approved actions (Sigma rule push, FortiGate block) run automatically and every step is logged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400" dirty="0"/>
              <a:t>Feedback loop: analyst decisions feed a RAG memory layer (ChromaDB) that suppresses repeat false positives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ECB1F8-E0E0-1D55-E447-281DF496B072}"/>
              </a:ext>
            </a:extLst>
          </p:cNvPr>
          <p:cNvSpPr txBox="1"/>
          <p:nvPr/>
        </p:nvSpPr>
        <p:spPr>
          <a:xfrm>
            <a:off x="21319699" y="11434747"/>
            <a:ext cx="8338346" cy="1143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600" dirty="0"/>
              <a:t>All 3 tested attack scenarios were detected by Wazuh, reached the orchestrator, and produced a HITL decision card</a:t>
            </a:r>
          </a:p>
          <a:p>
            <a:pPr marL="571500" indent="-5715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600" dirty="0"/>
              <a:t>Confirmed working end-to-end: SIEM integration, orchestration, HITL approval gate, and audit trail</a:t>
            </a:r>
          </a:p>
          <a:p>
            <a:pPr marL="742950" indent="-742950">
              <a:spcAft>
                <a:spcPts val="700"/>
              </a:spcAft>
              <a:buFont typeface="+mj-lt"/>
              <a:buAutoNum type="arabicPeriod"/>
            </a:pPr>
            <a:r>
              <a:rPr lang="en-US" sz="3600" dirty="0"/>
              <a:t>6 subsystems confirmed fully working in the lab</a:t>
            </a:r>
          </a:p>
          <a:p>
            <a:pPr marL="742950" indent="-742950">
              <a:spcAft>
                <a:spcPts val="700"/>
              </a:spcAft>
              <a:buFont typeface="+mj-lt"/>
              <a:buAutoNum type="arabicPeriod"/>
            </a:pPr>
            <a:r>
              <a:rPr lang="en-US" sz="3600" dirty="0"/>
              <a:t>2 subsystems partially implemented (FortiGate SOAR auth, dashboard mock data)</a:t>
            </a:r>
          </a:p>
          <a:p>
            <a:pPr marL="742950" indent="-742950">
              <a:spcAft>
                <a:spcPts val="700"/>
              </a:spcAft>
              <a:buFont typeface="+mj-lt"/>
              <a:buAutoNum type="arabicPeriod"/>
            </a:pPr>
            <a:r>
              <a:rPr lang="en-US" sz="3600" dirty="0"/>
              <a:t>4 subsystems remain target design for future work</a:t>
            </a:r>
          </a:p>
          <a:p>
            <a:pPr marL="742950" indent="-742950">
              <a:spcAft>
                <a:spcPts val="700"/>
              </a:spcAft>
              <a:buFont typeface="+mj-lt"/>
              <a:buAutoNum type="arabicPeriod"/>
            </a:pPr>
            <a:r>
              <a:rPr lang="en-US" sz="3600" dirty="0"/>
              <a:t>100% detection rate across all validated attack scenarios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/>
              <a:t>RAG memory layer reduces repeat false positives from analyst feedback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2E1B3B-F124-FB80-1D28-9ADEDFB7B6E1}"/>
              </a:ext>
            </a:extLst>
          </p:cNvPr>
          <p:cNvSpPr txBox="1"/>
          <p:nvPr/>
        </p:nvSpPr>
        <p:spPr>
          <a:xfrm>
            <a:off x="20875336" y="31460204"/>
            <a:ext cx="8896191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dirty="0"/>
              <a:t>AgeixAISOC shows that an AI-orchestrated detection-to-recommendation pipeline, governed by a strict Human-in-the-Loop approval gate, is achievable within a graduation-project scope. The core pipeline runs end-to-end against a live SIEM, giving a credible, extensible foundation for a governance-ready SOC platform where AI handles alert volume while humans keep final control and accountability.</a:t>
            </a:r>
          </a:p>
        </p:txBody>
      </p:sp>
      <p:grpSp>
        <p:nvGrpSpPr>
          <p:cNvPr id="57" name="Group 56"/>
          <p:cNvGrpSpPr/>
          <p:nvPr/>
        </p:nvGrpSpPr>
        <p:grpSpPr>
          <a:xfrm>
            <a:off x="5740632" y="-54689"/>
            <a:ext cx="22554494" cy="2588334"/>
            <a:chOff x="7639142" y="16853745"/>
            <a:chExt cx="22554494" cy="2588334"/>
          </a:xfrm>
        </p:grpSpPr>
        <p:grpSp>
          <p:nvGrpSpPr>
            <p:cNvPr id="58" name="Group 57"/>
            <p:cNvGrpSpPr/>
            <p:nvPr/>
          </p:nvGrpSpPr>
          <p:grpSpPr>
            <a:xfrm>
              <a:off x="7639142" y="16853745"/>
              <a:ext cx="22554494" cy="2588334"/>
              <a:chOff x="1111995" y="75619"/>
              <a:chExt cx="8638774" cy="822960"/>
            </a:xfrm>
          </p:grpSpPr>
          <p:grpSp>
            <p:nvGrpSpPr>
              <p:cNvPr id="60" name="Group 59"/>
              <p:cNvGrpSpPr/>
              <p:nvPr/>
            </p:nvGrpSpPr>
            <p:grpSpPr>
              <a:xfrm>
                <a:off x="5907394" y="75619"/>
                <a:ext cx="3843375" cy="822960"/>
                <a:chOff x="5564494" y="-213306"/>
                <a:chExt cx="3843375" cy="822960"/>
              </a:xfrm>
            </p:grpSpPr>
            <p:pic>
              <p:nvPicPr>
                <p:cNvPr id="62" name="صورة 8" descr="logo"/>
                <p:cNvPicPr/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4523" t="2640" r="24189" b="3760"/>
                <a:stretch/>
              </p:blipFill>
              <p:spPr bwMode="auto">
                <a:xfrm>
                  <a:off x="5564494" y="-108052"/>
                  <a:ext cx="854429" cy="7014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53640926-AAD7-44D8-BBD7-CCE9431645EC}">
                    <a14:shadowObscured xmlns:a14="http://schemas.microsoft.com/office/drawing/2010/main"/>
                  </a:ext>
                </a:extLst>
              </p:spPr>
            </p:pic>
            <p:pic>
              <p:nvPicPr>
                <p:cNvPr id="63" name="صورة 6" descr="logo"/>
                <p:cNvPicPr/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090" t="10535" r="5108" b="8598"/>
                <a:stretch/>
              </p:blipFill>
              <p:spPr bwMode="auto">
                <a:xfrm>
                  <a:off x="7648284" y="-213306"/>
                  <a:ext cx="1759585" cy="82296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53640926-AAD7-44D8-BBD7-CCE9431645EC}">
                    <a14:shadowObscured xmlns:a14="http://schemas.microsoft.com/office/drawing/2010/main"/>
                  </a:ext>
                </a:extLst>
              </p:spPr>
            </p:pic>
          </p:grpSp>
          <p:pic>
            <p:nvPicPr>
              <p:cNvPr id="61" name="Picture 60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11995" y="144283"/>
                <a:ext cx="909196" cy="745472"/>
              </a:xfrm>
              <a:prstGeom prst="ellipse">
                <a:avLst/>
              </a:prstGeom>
              <a:ln w="3175" cap="rnd">
                <a:solidFill>
                  <a:srgbClr val="C8C6BD"/>
                </a:solidFill>
                <a:prstDash val="solid"/>
              </a:ln>
              <a:effectLst>
                <a:outerShdw blurRad="127000" algn="bl" rotWithShape="0">
                  <a:srgbClr val="000000"/>
                </a:outerShdw>
              </a:effectLst>
              <a:scene3d>
                <a:camera prst="perspectiveFront" fov="5400000"/>
                <a:lightRig rig="threePt" dir="t">
                  <a:rot lat="0" lon="0" rev="19200000"/>
                </a:lightRig>
              </a:scene3d>
              <a:sp3d extrusionH="25400">
                <a:bevelT w="304800" h="152400" prst="hardEdge"/>
                <a:extrusionClr>
                  <a:srgbClr val="000000"/>
                </a:extrusionClr>
              </a:sp3d>
            </p:spPr>
          </p:pic>
        </p:grpSp>
        <p:pic>
          <p:nvPicPr>
            <p:cNvPr id="59" name="Picture 58" descr="C:\Users\DELL\OneDrive\Desktop\Graduation Event\logo.png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05593" y="17436511"/>
              <a:ext cx="4328310" cy="16505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" name="Google Shape;86;p1"/>
          <p:cNvSpPr txBox="1"/>
          <p:nvPr/>
        </p:nvSpPr>
        <p:spPr>
          <a:xfrm>
            <a:off x="22217675" y="2114179"/>
            <a:ext cx="8454794" cy="3156057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Bef>
                <a:spcPts val="900"/>
              </a:spcBef>
              <a:buClr>
                <a:schemeClr val="lt1"/>
              </a:buClr>
              <a:buSzPts val="5400"/>
            </a:pPr>
            <a:r>
              <a:rPr lang="en-US" sz="4503" u="sng" dirty="0">
                <a:solidFill>
                  <a:schemeClr val="tx1"/>
                </a:solidFill>
                <a:latin typeface="Titillium Web"/>
                <a:ea typeface="Titillium Web"/>
                <a:cs typeface="Titillium Web"/>
                <a:sym typeface="Titillium Web"/>
              </a:rPr>
              <a:t>Under Supervision of:</a:t>
            </a:r>
            <a:endParaRPr sz="984" dirty="0">
              <a:solidFill>
                <a:schemeClr val="tx1"/>
              </a:solidFill>
            </a:endParaRPr>
          </a:p>
          <a:p>
            <a:pPr>
              <a:spcBef>
                <a:spcPts val="900"/>
              </a:spcBef>
              <a:buClr>
                <a:schemeClr val="lt1"/>
              </a:buClr>
              <a:buSzPts val="5400"/>
            </a:pPr>
            <a:r>
              <a:rPr lang="en-US" sz="4000" b="1" u="sng" dirty="0">
                <a:solidFill>
                  <a:schemeClr val="tx1"/>
                </a:solidFill>
                <a:latin typeface="Titillium Web"/>
                <a:ea typeface="Titillium Web"/>
                <a:cs typeface="Titillium Web"/>
                <a:sym typeface="Titillium Web"/>
              </a:rPr>
              <a:t>Eng. Abdelrazek Ali</a:t>
            </a:r>
          </a:p>
          <a:p>
            <a:pPr>
              <a:spcBef>
                <a:spcPts val="900"/>
              </a:spcBef>
              <a:buClr>
                <a:schemeClr val="lt1"/>
              </a:buClr>
              <a:buSzPts val="5400"/>
            </a:pPr>
            <a:r>
              <a:rPr lang="ms" sz="4503" b="1" u="sng" dirty="0">
                <a:solidFill>
                  <a:srgbClr val="C00000"/>
                </a:solidFill>
                <a:latin typeface="Titillium Web"/>
                <a:sym typeface="Titillium Web"/>
              </a:rPr>
              <a:t>General Supervisor</a:t>
            </a:r>
          </a:p>
          <a:p>
            <a:pPr>
              <a:spcBef>
                <a:spcPts val="900"/>
              </a:spcBef>
              <a:buClr>
                <a:schemeClr val="lt1"/>
              </a:buClr>
              <a:buSzPts val="5400"/>
            </a:pPr>
            <a:r>
              <a:rPr lang="ms" sz="4503" b="1" dirty="0">
                <a:solidFill>
                  <a:schemeClr val="tx1"/>
                </a:solidFill>
                <a:latin typeface="Titillium Web"/>
                <a:sym typeface="Titillium Web"/>
              </a:rPr>
              <a:t>Dr.Rabab Nabawy</a:t>
            </a:r>
          </a:p>
        </p:txBody>
      </p:sp>
      <p:sp>
        <p:nvSpPr>
          <p:cNvPr id="500" name="FlowBox0"/>
          <p:cNvSpPr/>
          <p:nvPr/>
        </p:nvSpPr>
        <p:spPr>
          <a:xfrm>
            <a:off x="1102014" y="21788195"/>
            <a:ext cx="2504786" cy="6017097"/>
          </a:xfrm>
          <a:prstGeom prst="roundRect">
            <a:avLst>
              <a:gd name="adj" fmla="val 8000"/>
            </a:avLst>
          </a:prstGeom>
          <a:solidFill>
            <a:srgbClr val="6297D2"/>
          </a:solidFill>
          <a:ln w="19050">
            <a:solidFill>
              <a:srgbClr val="3A9FB0"/>
            </a:solidFill>
          </a:ln>
        </p:spPr>
        <p:txBody>
          <a:bodyPr wrap="square" lIns="45720" tIns="45720" rIns="45720" bIns="4572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0D2B30"/>
                </a:solidFill>
              </a:rPr>
              <a:t>Wazuh SIEM</a:t>
            </a:r>
          </a:p>
          <a:p>
            <a:pPr algn="ctr"/>
            <a:r>
              <a:rPr lang="en-US" sz="2600" b="1" dirty="0">
                <a:solidFill>
                  <a:srgbClr val="0D2B30"/>
                </a:solidFill>
              </a:rPr>
              <a:t>Ingestion</a:t>
            </a:r>
          </a:p>
        </p:txBody>
      </p:sp>
      <p:sp>
        <p:nvSpPr>
          <p:cNvPr id="501" name="FlowArrow0"/>
          <p:cNvSpPr/>
          <p:nvPr/>
        </p:nvSpPr>
        <p:spPr>
          <a:xfrm>
            <a:off x="3494225" y="24432909"/>
            <a:ext cx="787218" cy="1741791"/>
          </a:xfrm>
          <a:prstGeom prst="rightArrow">
            <a:avLst/>
          </a:prstGeom>
          <a:solidFill>
            <a:srgbClr val="1F4E56"/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502" name="FlowBox1"/>
          <p:cNvSpPr/>
          <p:nvPr/>
        </p:nvSpPr>
        <p:spPr>
          <a:xfrm>
            <a:off x="4225005" y="21826231"/>
            <a:ext cx="2504786" cy="6017097"/>
          </a:xfrm>
          <a:prstGeom prst="roundRect">
            <a:avLst>
              <a:gd name="adj" fmla="val 8000"/>
            </a:avLst>
          </a:prstGeom>
          <a:solidFill>
            <a:srgbClr val="69B1D8"/>
          </a:solidFill>
          <a:ln w="19050">
            <a:solidFill>
              <a:srgbClr val="3A9FB0"/>
            </a:solidFill>
          </a:ln>
        </p:spPr>
        <p:txBody>
          <a:bodyPr wrap="square" lIns="45720" tIns="45720" rIns="45720" bIns="4572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0D2B30"/>
                </a:solidFill>
              </a:rPr>
              <a:t>LangGraph</a:t>
            </a:r>
          </a:p>
          <a:p>
            <a:pPr algn="ctr"/>
            <a:r>
              <a:rPr lang="en-US" sz="2600" b="1" dirty="0">
                <a:solidFill>
                  <a:srgbClr val="0D2B30"/>
                </a:solidFill>
              </a:rPr>
              <a:t>Orchestrator</a:t>
            </a:r>
          </a:p>
        </p:txBody>
      </p:sp>
      <p:sp>
        <p:nvSpPr>
          <p:cNvPr id="503" name="FlowArrow1"/>
          <p:cNvSpPr/>
          <p:nvPr/>
        </p:nvSpPr>
        <p:spPr>
          <a:xfrm>
            <a:off x="6616700" y="24432909"/>
            <a:ext cx="787218" cy="1741791"/>
          </a:xfrm>
          <a:prstGeom prst="rightArrow">
            <a:avLst/>
          </a:prstGeom>
          <a:solidFill>
            <a:srgbClr val="1F4E5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" name="FlowBox2"/>
          <p:cNvSpPr/>
          <p:nvPr/>
        </p:nvSpPr>
        <p:spPr>
          <a:xfrm>
            <a:off x="7357925" y="21913199"/>
            <a:ext cx="2504786" cy="6017097"/>
          </a:xfrm>
          <a:prstGeom prst="roundRect">
            <a:avLst>
              <a:gd name="adj" fmla="val 8000"/>
            </a:avLst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rgbClr val="3A9FB0"/>
            </a:solidFill>
          </a:ln>
        </p:spPr>
        <p:txBody>
          <a:bodyPr wrap="square" lIns="45720" tIns="45720" rIns="45720" bIns="4572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0D2B30"/>
                </a:solidFill>
              </a:rPr>
              <a:t>CrewAI</a:t>
            </a:r>
          </a:p>
          <a:p>
            <a:pPr algn="ctr"/>
            <a:r>
              <a:rPr lang="en-US" sz="2600" b="1" dirty="0">
                <a:solidFill>
                  <a:srgbClr val="0D2B30"/>
                </a:solidFill>
              </a:rPr>
              <a:t>Agents</a:t>
            </a:r>
          </a:p>
        </p:txBody>
      </p:sp>
      <p:sp>
        <p:nvSpPr>
          <p:cNvPr id="505" name="FlowArrow2"/>
          <p:cNvSpPr/>
          <p:nvPr/>
        </p:nvSpPr>
        <p:spPr>
          <a:xfrm>
            <a:off x="9658701" y="24479787"/>
            <a:ext cx="787218" cy="1741791"/>
          </a:xfrm>
          <a:prstGeom prst="rightArrow">
            <a:avLst/>
          </a:prstGeom>
          <a:solidFill>
            <a:srgbClr val="1F4E5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6" name="FlowBox3"/>
          <p:cNvSpPr/>
          <p:nvPr/>
        </p:nvSpPr>
        <p:spPr>
          <a:xfrm>
            <a:off x="10401794" y="21872103"/>
            <a:ext cx="2504786" cy="6017097"/>
          </a:xfrm>
          <a:prstGeom prst="roundRect">
            <a:avLst>
              <a:gd name="adj" fmla="val 8000"/>
            </a:avLst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rgbClr val="3A9FB0"/>
            </a:solidFill>
          </a:ln>
        </p:spPr>
        <p:txBody>
          <a:bodyPr wrap="square" lIns="45720" tIns="45720" rIns="45720" bIns="4572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0D2B30"/>
                </a:solidFill>
              </a:rPr>
              <a:t>Human</a:t>
            </a:r>
          </a:p>
          <a:p>
            <a:pPr algn="ctr"/>
            <a:r>
              <a:rPr lang="en-US" sz="2600" b="1" dirty="0">
                <a:solidFill>
                  <a:srgbClr val="0D2B30"/>
                </a:solidFill>
              </a:rPr>
              <a:t>Approval</a:t>
            </a:r>
          </a:p>
        </p:txBody>
      </p:sp>
      <p:sp>
        <p:nvSpPr>
          <p:cNvPr id="507" name="FlowArrow3"/>
          <p:cNvSpPr/>
          <p:nvPr/>
        </p:nvSpPr>
        <p:spPr>
          <a:xfrm>
            <a:off x="12697082" y="24432909"/>
            <a:ext cx="787218" cy="1741791"/>
          </a:xfrm>
          <a:prstGeom prst="rightArrow">
            <a:avLst/>
          </a:prstGeom>
          <a:solidFill>
            <a:srgbClr val="1F4E5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8" name="FlowBox4"/>
          <p:cNvSpPr/>
          <p:nvPr/>
        </p:nvSpPr>
        <p:spPr>
          <a:xfrm>
            <a:off x="13440395" y="21919275"/>
            <a:ext cx="2504786" cy="6017097"/>
          </a:xfrm>
          <a:prstGeom prst="roundRect">
            <a:avLst>
              <a:gd name="adj" fmla="val 8000"/>
            </a:avLst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3A9FB0"/>
            </a:solidFill>
          </a:ln>
        </p:spPr>
        <p:txBody>
          <a:bodyPr wrap="square" lIns="45720" tIns="45720" rIns="45720" bIns="4572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0D2B30"/>
                </a:solidFill>
              </a:rPr>
              <a:t>SOAR</a:t>
            </a:r>
          </a:p>
          <a:p>
            <a:pPr algn="ctr"/>
            <a:r>
              <a:rPr lang="en-US" sz="2600" b="1" dirty="0">
                <a:solidFill>
                  <a:srgbClr val="0D2B30"/>
                </a:solidFill>
              </a:rPr>
              <a:t>Execution</a:t>
            </a:r>
          </a:p>
        </p:txBody>
      </p:sp>
      <p:sp>
        <p:nvSpPr>
          <p:cNvPr id="509" name="FlowArrow4"/>
          <p:cNvSpPr/>
          <p:nvPr/>
        </p:nvSpPr>
        <p:spPr>
          <a:xfrm>
            <a:off x="15756154" y="24488238"/>
            <a:ext cx="787218" cy="1741791"/>
          </a:xfrm>
          <a:prstGeom prst="rightArrow">
            <a:avLst/>
          </a:prstGeom>
          <a:solidFill>
            <a:srgbClr val="1F4E5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0" name="FlowBox5"/>
          <p:cNvSpPr/>
          <p:nvPr/>
        </p:nvSpPr>
        <p:spPr>
          <a:xfrm>
            <a:off x="16543375" y="21872103"/>
            <a:ext cx="2504786" cy="6017097"/>
          </a:xfrm>
          <a:prstGeom prst="roundRect">
            <a:avLst>
              <a:gd name="adj" fmla="val 8000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3A9FB0"/>
            </a:solidFill>
          </a:ln>
        </p:spPr>
        <p:txBody>
          <a:bodyPr wrap="square" lIns="45720" tIns="45720" rIns="45720" bIns="4572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0D2B30"/>
                </a:solidFill>
              </a:rPr>
              <a:t>Audit</a:t>
            </a:r>
          </a:p>
          <a:p>
            <a:pPr algn="ctr"/>
            <a:r>
              <a:rPr lang="en-US" sz="2600" b="1" dirty="0">
                <a:solidFill>
                  <a:srgbClr val="0D2B30"/>
                </a:solidFill>
              </a:rPr>
              <a:t>Trail</a:t>
            </a:r>
          </a:p>
        </p:txBody>
      </p:sp>
      <p:pic>
        <p:nvPicPr>
          <p:cNvPr id="511" name="Graphic 511" descr="Firewall / perimeter securi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84300" y="38608000"/>
            <a:ext cx="1651000" cy="1651000"/>
          </a:xfrm>
          <a:prstGeom prst="rect">
            <a:avLst/>
          </a:prstGeom>
        </p:spPr>
      </p:pic>
      <p:pic>
        <p:nvPicPr>
          <p:cNvPr id="512" name="Graphic 512" descr="SIEM serv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43300" y="38608000"/>
            <a:ext cx="1651000" cy="1651000"/>
          </a:xfrm>
          <a:prstGeom prst="rect">
            <a:avLst/>
          </a:prstGeom>
        </p:spPr>
      </p:pic>
      <p:pic>
        <p:nvPicPr>
          <p:cNvPr id="513" name="Graphic 513" descr="Active Directory netwo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02300" y="38608000"/>
            <a:ext cx="1651000" cy="1651000"/>
          </a:xfrm>
          <a:prstGeom prst="rect">
            <a:avLst/>
          </a:prstGeom>
        </p:spPr>
      </p:pic>
      <p:pic>
        <p:nvPicPr>
          <p:cNvPr id="514" name="Graphic 514" descr="Attack scenario target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61300" y="38608000"/>
            <a:ext cx="1651000" cy="1651000"/>
          </a:xfrm>
          <a:prstGeom prst="rect">
            <a:avLst/>
          </a:prstGeom>
        </p:spPr>
      </p:pic>
      <p:pic>
        <p:nvPicPr>
          <p:cNvPr id="515" name="Graphic 515" descr="Wazuh SIEM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39800" y="42608500"/>
            <a:ext cx="1270000" cy="1270000"/>
          </a:xfrm>
          <a:prstGeom prst="rect">
            <a:avLst/>
          </a:prstGeom>
        </p:spPr>
      </p:pic>
      <p:pic>
        <p:nvPicPr>
          <p:cNvPr id="516" name="Graphic 516" descr="FortiGate firewal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71800" y="42608500"/>
            <a:ext cx="1270000" cy="1270000"/>
          </a:xfrm>
          <a:prstGeom prst="rect">
            <a:avLst/>
          </a:prstGeom>
        </p:spPr>
      </p:pic>
      <p:pic>
        <p:nvPicPr>
          <p:cNvPr id="517" name="Graphic 517" descr="LangGraph and CrewAI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003800" y="42608500"/>
            <a:ext cx="1270000" cy="1270000"/>
          </a:xfrm>
          <a:prstGeom prst="rect">
            <a:avLst/>
          </a:prstGeom>
        </p:spPr>
      </p:pic>
      <p:pic>
        <p:nvPicPr>
          <p:cNvPr id="518" name="Graphic 518" descr="FastAPI and n8n autom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035800" y="42608500"/>
            <a:ext cx="1270000" cy="1270000"/>
          </a:xfrm>
          <a:prstGeom prst="rect">
            <a:avLst/>
          </a:prstGeom>
        </p:spPr>
      </p:pic>
      <p:pic>
        <p:nvPicPr>
          <p:cNvPr id="519" name="Graphic 519" descr="PostgreSQL and ChromaDB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067800" y="42608500"/>
            <a:ext cx="1270000" cy="1270000"/>
          </a:xfrm>
          <a:prstGeom prst="rect">
            <a:avLst/>
          </a:prstGeom>
        </p:spPr>
      </p:pic>
      <p:pic>
        <p:nvPicPr>
          <p:cNvPr id="520" name="Graphic 520" descr="Governed AI teamma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8072100" y="16233576"/>
            <a:ext cx="2413000" cy="2413000"/>
          </a:xfrm>
          <a:prstGeom prst="rect">
            <a:avLst/>
          </a:prstGeom>
        </p:spPr>
      </p:pic>
      <p:pic>
        <p:nvPicPr>
          <p:cNvPr id="521" name="Graphic 521" descr="Validated attack detec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1265150" y="7170469"/>
            <a:ext cx="3302000" cy="3302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52785D6-83EE-4373-B47F-01F3318BDC21}"/>
              </a:ext>
            </a:extLst>
          </p:cNvPr>
          <p:cNvSpPr txBox="1"/>
          <p:nvPr/>
        </p:nvSpPr>
        <p:spPr>
          <a:xfrm>
            <a:off x="685800" y="44043600"/>
            <a:ext cx="17780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600" b="1"/>
              <a:t>Wazuh SIEM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A32770-E1F5-49E4-9F22-EA009FE967D9}"/>
              </a:ext>
            </a:extLst>
          </p:cNvPr>
          <p:cNvSpPr txBox="1"/>
          <p:nvPr/>
        </p:nvSpPr>
        <p:spPr>
          <a:xfrm>
            <a:off x="2717800" y="44043600"/>
            <a:ext cx="17780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600" b="1"/>
              <a:t>FortiGate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4BC402-63A9-4293-B8E3-48D4A486A7C6}"/>
              </a:ext>
            </a:extLst>
          </p:cNvPr>
          <p:cNvSpPr txBox="1"/>
          <p:nvPr/>
        </p:nvSpPr>
        <p:spPr>
          <a:xfrm>
            <a:off x="4749800" y="44043600"/>
            <a:ext cx="17780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600" b="1"/>
              <a:t>LangGraph / CrewAI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1F2CB4-140E-4AE6-BC7C-1CAE72EAE044}"/>
              </a:ext>
            </a:extLst>
          </p:cNvPr>
          <p:cNvSpPr txBox="1"/>
          <p:nvPr/>
        </p:nvSpPr>
        <p:spPr>
          <a:xfrm>
            <a:off x="6781800" y="44043600"/>
            <a:ext cx="17780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600" b="1"/>
              <a:t>FastAPI / n8n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0F9251-EC86-468C-A379-1D5609632411}"/>
              </a:ext>
            </a:extLst>
          </p:cNvPr>
          <p:cNvSpPr txBox="1"/>
          <p:nvPr/>
        </p:nvSpPr>
        <p:spPr>
          <a:xfrm>
            <a:off x="8813800" y="44043600"/>
            <a:ext cx="17780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600" b="1"/>
              <a:t>PostgreSQL / ChromaDB</a:t>
            </a:r>
          </a:p>
        </p:txBody>
      </p:sp>
      <p:graphicFrame>
        <p:nvGraphicFramePr>
          <p:cNvPr id="530" name="Status Chart"/>
          <p:cNvGraphicFramePr/>
          <p:nvPr>
            <p:extLst>
              <p:ext uri="{D42A27DB-BD31-4B8C-83A1-F6EECF244321}">
                <p14:modId xmlns:p14="http://schemas.microsoft.com/office/powerpoint/2010/main" val="1023173449"/>
              </p:ext>
            </p:extLst>
          </p:nvPr>
        </p:nvGraphicFramePr>
        <p:xfrm>
          <a:off x="25107900" y="6972300"/>
          <a:ext cx="4699000" cy="4292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F3F43F6C-C029-8DD9-3494-4BA80E27805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2406124" y="25416891"/>
            <a:ext cx="5834613" cy="4322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315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48" row="6">
    <wetp:webextensionref xmlns:r="http://schemas.openxmlformats.org/officeDocument/2006/relationships" r:id="rId1"/>
  </wetp:taskpane>
  <wetp:taskpane dockstate="right" visibility="0" width="350" row="7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78C5976-1411-4E93-B1F8-647C475B1101}">
  <we:reference id="wa200010725" version="1.0.0.1" store="en-GB" storeType="OMEX"/>
  <we:alternateReferences>
    <we:reference id="WA200010725" version="1.0.0.1" store="WA200010725" storeType="OMEX"/>
  </we:alternateReferences>
  <we:properties>
    <we:property name="claude.fileId" value="&quot;b6c7cd2d-9221-4ecd-b38e-0dd19ac311f4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1674140-74E8-4331-8A92-42EA69B87CAC}">
  <we:reference id="wa200010001" version="1.0.0.1" store="en-GB" storeType="OMEX"/>
  <we:alternateReferences>
    <we:reference id="wa200010001" version="1.0.0.1" store="wa200010001" storeType="OMEX"/>
  </we:alternateReferences>
  <we:properties>
    <we:property name="claude.fileId" value="&quot;56526625-e684-484d-a2c3-f13b8e3357b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1465</TotalTime>
  <Words>558</Words>
  <Application>Microsoft Office PowerPoint</Application>
  <PresentationFormat>Custom</PresentationFormat>
  <Paragraphs>64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 Unicode MS</vt:lpstr>
      <vt:lpstr>Titillium Web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</dc:creator>
  <cp:lastModifiedBy>Soc</cp:lastModifiedBy>
  <cp:revision>15</cp:revision>
  <dcterms:created xsi:type="dcterms:W3CDTF">2012-07-09T21:51:14Z</dcterms:created>
  <dcterms:modified xsi:type="dcterms:W3CDTF">2026-08-24T17:17:37Z</dcterms:modified>
</cp:coreProperties>
</file>