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30724475" cy="47456725"/>
  <p:notesSz cx="6858000" cy="9144000"/>
  <p:embeddedFontLst>
    <p:embeddedFont>
      <p:font typeface="Arial Unicode MS" panose="020B0604020202020204" charset="-128"/>
      <p:regular r:id="rId4"/>
    </p:embeddedFont>
    <p:embeddedFont>
      <p:font typeface="Titillium Web" panose="00000500000000000000" pitchFamily="2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948" userDrawn="1">
          <p15:clr>
            <a:srgbClr val="A4A3A4"/>
          </p15:clr>
        </p15:guide>
        <p15:guide id="2" pos="967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dFYQDuC3v0tfi5ST5GQlQPtR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1D8"/>
    <a:srgbClr val="6297D2"/>
    <a:srgbClr val="5CC6D8"/>
    <a:srgbClr val="56DED1"/>
    <a:srgbClr val="238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4" autoAdjust="0"/>
    <p:restoredTop sz="95084" autoAdjust="0"/>
  </p:normalViewPr>
  <p:slideViewPr>
    <p:cSldViewPr snapToGrid="0">
      <p:cViewPr>
        <p:scale>
          <a:sx n="33" d="100"/>
          <a:sy n="33" d="100"/>
        </p:scale>
        <p:origin x="2424" y="-1692"/>
      </p:cViewPr>
      <p:guideLst>
        <p:guide orient="horz" pos="14948"/>
        <p:guide pos="9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Subsystem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v>Subsystems</c:v>
          </c:tx>
          <c:spPr>
            <a:solidFill>
              <a:srgbClr val="5CC6D8"/>
            </a:solidFill>
          </c:spPr>
          <c:dPt>
            <c:idx val="0"/>
            <c:bubble3D val="0"/>
            <c:spPr>
              <a:solidFill>
                <a:srgbClr val="56DED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0-FF1A-4C83-943A-DFB52535F73C}"/>
              </c:ext>
            </c:extLst>
          </c:dPt>
          <c:dPt>
            <c:idx val="1"/>
            <c:bubble3D val="0"/>
            <c:spPr>
              <a:solidFill>
                <a:srgbClr val="69B1D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FF1A-4C83-943A-DFB52535F73C}"/>
              </c:ext>
            </c:extLst>
          </c:dPt>
          <c:dPt>
            <c:idx val="2"/>
            <c:bubble3D val="0"/>
            <c:spPr>
              <a:solidFill>
                <a:srgbClr val="5CC6D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F1A-4C83-943A-DFB52535F73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Confirmed Working</c:v>
              </c:pt>
              <c:pt idx="1">
                <c:v>Partially Implemented</c:v>
              </c:pt>
              <c:pt idx="2">
                <c:v>Target Design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2</c:v>
              </c:pt>
              <c:pt idx="2">
                <c:v>4</c:v>
              </c:pt>
            </c:numLit>
          </c:val>
          <c:extLst>
            <c:ext xmlns:c16="http://schemas.microsoft.com/office/drawing/2014/chart" uri="{C3380CC4-5D6E-409C-BE32-E72D297353CC}">
              <c16:uniqueId val="{00000000-51B9-4464-8FC9-4C3A859CA6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29443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17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9338" y="685800"/>
            <a:ext cx="22193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912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096312" y="11831245"/>
            <a:ext cx="26499860" cy="1974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716"/>
              <a:buFont typeface="Arial"/>
              <a:buNone/>
              <a:defRPr sz="1478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096312" y="31758680"/>
            <a:ext cx="26499860" cy="1038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5911">
                <a:solidFill>
                  <a:srgbClr val="888888"/>
                </a:solidFill>
              </a:defRPr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905"/>
              <a:buNone/>
              <a:defRPr sz="4926">
                <a:solidFill>
                  <a:srgbClr val="888888"/>
                </a:solidFill>
              </a:defRPr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5315"/>
              <a:buNone/>
              <a:defRPr sz="4435">
                <a:solidFill>
                  <a:srgbClr val="888888"/>
                </a:solidFill>
              </a:defRPr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rgbClr val="888888"/>
              </a:buClr>
              <a:buSzPts val="4724"/>
              <a:buNone/>
              <a:defRPr sz="394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112315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5554270" y="12633169"/>
            <a:ext cx="13057902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116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116319" y="11633494"/>
            <a:ext cx="12997891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116319" y="17334900"/>
            <a:ext cx="12997891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5554279" y="11633494"/>
            <a:ext cx="13061906" cy="5701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5911" b="1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None/>
              <a:defRPr sz="4926" b="1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315"/>
              <a:buNone/>
              <a:defRPr sz="4435" b="1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5554279" y="17334900"/>
            <a:ext cx="13061906" cy="2549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691369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9449"/>
              <a:buChar char="•"/>
              <a:defRPr sz="7884"/>
            </a:lvl1pPr>
            <a:lvl2pPr marL="762947" lvl="1" indent="-628797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8268"/>
              <a:buChar char="•"/>
              <a:defRPr sz="6897"/>
            </a:lvl2pPr>
            <a:lvl3pPr marL="1144424" lvl="2" indent="-566173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5911"/>
            </a:lvl3pPr>
            <a:lvl4pPr marL="1525896" lvl="3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4pPr>
            <a:lvl5pPr marL="1907370" lvl="4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5pPr>
            <a:lvl6pPr marL="2150166" lvl="5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6pPr>
            <a:lvl7pPr marL="2150166" lvl="6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7pPr>
            <a:lvl8pPr marL="2150166" lvl="7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8pPr>
            <a:lvl9pPr marL="2150166" lvl="8" indent="-50359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5905"/>
              <a:buChar char="•"/>
              <a:defRPr sz="4926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116329" y="3163783"/>
            <a:ext cx="9909444" cy="110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49"/>
              <a:buFont typeface="Arial"/>
              <a:buNone/>
              <a:defRPr sz="788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061915" y="6832913"/>
            <a:ext cx="15554265" cy="33725034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116329" y="14237037"/>
            <a:ext cx="9909444" cy="26375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190738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4724"/>
              <a:buNone/>
              <a:defRPr sz="3942"/>
            </a:lvl1pPr>
            <a:lvl2pPr marL="762947" lvl="1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4134"/>
              <a:buNone/>
              <a:defRPr sz="3448"/>
            </a:lvl2pPr>
            <a:lvl3pPr marL="1144424" lvl="2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2955"/>
            </a:lvl3pPr>
            <a:lvl4pPr marL="1525896" lvl="3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4pPr>
            <a:lvl5pPr marL="1907370" lvl="4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5pPr>
            <a:lvl6pPr marL="2150166" lvl="5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6pPr>
            <a:lvl7pPr marL="2150166" lvl="6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7pPr>
            <a:lvl8pPr marL="2150166" lvl="7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8pPr>
            <a:lvl9pPr marL="2150166" lvl="8" indent="-190738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2953"/>
              <a:buNone/>
              <a:defRPr sz="246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06828" y="14438660"/>
            <a:ext cx="30110856" cy="26499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5191006" y="19322854"/>
            <a:ext cx="40217381" cy="6624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8250955" y="12889915"/>
            <a:ext cx="40217381" cy="194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81475" lvl="0" indent="-286105" algn="l">
              <a:lnSpc>
                <a:spcPct val="90000"/>
              </a:lnSpc>
              <a:spcBef>
                <a:spcPts val="246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62947" lvl="1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144424" lvl="2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525896" lvl="3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907370" lvl="4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50166" lvl="5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50166" lvl="6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150166" lvl="7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150166" lvl="8" indent="-286105" algn="l">
              <a:lnSpc>
                <a:spcPct val="90000"/>
              </a:lnSpc>
              <a:spcBef>
                <a:spcPts val="123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112311" y="2526650"/>
            <a:ext cx="26499860" cy="9172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2"/>
              <a:buFont typeface="Arial"/>
              <a:buNone/>
              <a:defRPr sz="129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112311" y="12633169"/>
            <a:ext cx="26499860" cy="301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53618" algn="l" rtl="0">
              <a:lnSpc>
                <a:spcPct val="90000"/>
              </a:lnSpc>
              <a:spcBef>
                <a:spcPts val="2953"/>
              </a:spcBef>
              <a:spcAft>
                <a:spcPts val="0"/>
              </a:spcAft>
              <a:buClr>
                <a:schemeClr val="dk1"/>
              </a:buClr>
              <a:buSzPts val="8268"/>
              <a:buFont typeface="Arial"/>
              <a:buChar char="•"/>
              <a:defRPr sz="826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8561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sz="708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3567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905"/>
              <a:buFont typeface="Arial"/>
              <a:buChar char="•"/>
              <a:defRPr sz="590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66102" algn="l" rtl="0">
              <a:lnSpc>
                <a:spcPct val="90000"/>
              </a:lnSpc>
              <a:spcBef>
                <a:spcPts val="1476"/>
              </a:spcBef>
              <a:spcAft>
                <a:spcPts val="0"/>
              </a:spcAft>
              <a:buClr>
                <a:schemeClr val="dk1"/>
              </a:buClr>
              <a:buSzPts val="5315"/>
              <a:buFont typeface="Arial"/>
              <a:buChar char="•"/>
              <a:defRPr sz="53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112321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177487" y="43985383"/>
            <a:ext cx="10369510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50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1699176" y="43985383"/>
            <a:ext cx="6913007" cy="252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43"/>
              <a:buFont typeface="Arial"/>
              <a:buNone/>
              <a:defRPr sz="29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ms" smtClean="0"/>
              <a:pPr/>
              <a:t>‹#›</a:t>
            </a:fld>
            <a:endParaRPr lang="m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16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29176" y="50350"/>
            <a:ext cx="30724476" cy="5283321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3600"/>
            </a:pPr>
            <a:endParaRPr sz="3004" b="1" dirty="0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5301465" y="3436615"/>
            <a:ext cx="15755053" cy="140120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lt1"/>
              </a:buClr>
              <a:buSzPts val="8000"/>
            </a:pPr>
            <a:r>
              <a:rPr lang="en-US" sz="4600" b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Libre Franklin Black"/>
              </a:rPr>
              <a:t>AgeixAISOC — AI-Orchestrated Cyber Defense Platform</a:t>
            </a:r>
          </a:p>
        </p:txBody>
      </p:sp>
      <p:sp>
        <p:nvSpPr>
          <p:cNvPr id="86" name="Google Shape;86;p1"/>
          <p:cNvSpPr txBox="1"/>
          <p:nvPr/>
        </p:nvSpPr>
        <p:spPr>
          <a:xfrm>
            <a:off x="450994" y="665653"/>
            <a:ext cx="6268885" cy="359072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lt1"/>
              </a:buClr>
              <a:buSzPts val="5400"/>
            </a:pPr>
            <a:r>
              <a:rPr lang="en-US" sz="4400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 by: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Aziz Ragab 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Emad Hassan</a:t>
            </a:r>
            <a:r>
              <a:rPr lang="ar-EG" sz="4400" b="1" dirty="0">
                <a:solidFill>
                  <a:schemeClr val="tx1"/>
                </a:solidFill>
                <a:latin typeface="Titillium Web"/>
                <a:sym typeface="Titillium Web"/>
              </a:rPr>
              <a:t> </a:t>
            </a:r>
            <a:endParaRPr lang="en-US" sz="4400" b="1" dirty="0">
              <a:solidFill>
                <a:schemeClr val="tx1"/>
              </a:solidFill>
              <a:latin typeface="Titillium Web"/>
              <a:sym typeface="Titillium Web"/>
            </a:endParaRP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Mohamed Hany</a:t>
            </a:r>
          </a:p>
          <a:p>
            <a:pPr>
              <a:spcBef>
                <a:spcPts val="400"/>
              </a:spcBef>
              <a:buClr>
                <a:schemeClr val="lt1"/>
              </a:buClr>
              <a:buSzPts val="5400"/>
            </a:pPr>
            <a:r>
              <a:rPr lang="en-US" sz="4400" b="1" dirty="0">
                <a:solidFill>
                  <a:schemeClr val="tx1"/>
                </a:solidFill>
                <a:latin typeface="Titillium Web"/>
                <a:sym typeface="Titillium Web"/>
              </a:rPr>
              <a:t>Taha Alghonaimi</a:t>
            </a:r>
          </a:p>
        </p:txBody>
      </p:sp>
      <p:sp>
        <p:nvSpPr>
          <p:cNvPr id="87" name="Google Shape;87;p1"/>
          <p:cNvSpPr/>
          <p:nvPr/>
        </p:nvSpPr>
        <p:spPr>
          <a:xfrm>
            <a:off x="0" y="5539452"/>
            <a:ext cx="20230005" cy="909845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600"/>
            </a:pPr>
            <a:r>
              <a:rPr lang="ms" sz="5506" b="1" dirty="0">
                <a:solidFill>
                  <a:schemeClr val="lt1"/>
                </a:solidFill>
              </a:rPr>
              <a:t>ABSTRACT</a:t>
            </a:r>
            <a:endParaRPr sz="984" dirty="0"/>
          </a:p>
        </p:txBody>
      </p:sp>
      <p:sp>
        <p:nvSpPr>
          <p:cNvPr id="88" name="Google Shape;88;p1"/>
          <p:cNvSpPr/>
          <p:nvPr/>
        </p:nvSpPr>
        <p:spPr>
          <a:xfrm>
            <a:off x="533857" y="30048873"/>
            <a:ext cx="9920949" cy="962984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4800"/>
            </a:pPr>
            <a:r>
              <a:rPr lang="en-US" sz="3600" b="1">
                <a:solidFill>
                  <a:schemeClr val="lt1"/>
                </a:solidFill>
              </a:rPr>
              <a:t>LAB ENVIRONMENT</a:t>
            </a:r>
            <a:endParaRPr sz="984"/>
          </a:p>
        </p:txBody>
      </p:sp>
      <p:sp>
        <p:nvSpPr>
          <p:cNvPr id="89" name="Google Shape;89;p1"/>
          <p:cNvSpPr/>
          <p:nvPr/>
        </p:nvSpPr>
        <p:spPr>
          <a:xfrm>
            <a:off x="10840843" y="29980917"/>
            <a:ext cx="9448041" cy="964487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4800"/>
            </a:pPr>
            <a:r>
              <a:rPr lang="ms" sz="4005" b="1">
                <a:solidFill>
                  <a:schemeClr val="lt1"/>
                </a:solidFill>
              </a:rPr>
              <a:t>METHODOLOGY</a:t>
            </a:r>
            <a:endParaRPr sz="984"/>
          </a:p>
        </p:txBody>
      </p:sp>
      <p:sp>
        <p:nvSpPr>
          <p:cNvPr id="90" name="Google Shape;90;p1"/>
          <p:cNvSpPr/>
          <p:nvPr/>
        </p:nvSpPr>
        <p:spPr>
          <a:xfrm>
            <a:off x="20691969" y="5654398"/>
            <a:ext cx="9425678" cy="1081069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>
                <a:solidFill>
                  <a:schemeClr val="lt1"/>
                </a:solidFill>
              </a:rPr>
              <a:t>RESULTS</a:t>
            </a:r>
            <a:endParaRPr sz="984"/>
          </a:p>
        </p:txBody>
      </p:sp>
      <p:sp>
        <p:nvSpPr>
          <p:cNvPr id="93" name="Google Shape;93;p1"/>
          <p:cNvSpPr/>
          <p:nvPr/>
        </p:nvSpPr>
        <p:spPr>
          <a:xfrm>
            <a:off x="1970233" y="14626702"/>
            <a:ext cx="15862567" cy="105836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Aim of the work </a:t>
            </a:r>
            <a:endParaRPr sz="984" dirty="0"/>
          </a:p>
        </p:txBody>
      </p:sp>
      <p:sp>
        <p:nvSpPr>
          <p:cNvPr id="94" name="Google Shape;94;p1"/>
          <p:cNvSpPr/>
          <p:nvPr/>
        </p:nvSpPr>
        <p:spPr>
          <a:xfrm>
            <a:off x="533857" y="41539999"/>
            <a:ext cx="10018654" cy="819334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USED TOOLS</a:t>
            </a:r>
            <a:endParaRPr sz="984" dirty="0"/>
          </a:p>
        </p:txBody>
      </p:sp>
      <p:sp>
        <p:nvSpPr>
          <p:cNvPr id="95" name="Google Shape;95;p1"/>
          <p:cNvSpPr/>
          <p:nvPr/>
        </p:nvSpPr>
        <p:spPr>
          <a:xfrm>
            <a:off x="1970233" y="20067571"/>
            <a:ext cx="15862567" cy="1352167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marL="381475" lvl="1" algn="ctr">
              <a:buSzPts val="6600"/>
            </a:pPr>
            <a:r>
              <a:rPr lang="ms" sz="5506" b="1" dirty="0">
                <a:solidFill>
                  <a:schemeClr val="lt1"/>
                </a:solidFill>
              </a:rPr>
              <a:t>SYSTEM OVERVIEW</a:t>
            </a:r>
            <a:endParaRPr sz="984" dirty="0"/>
          </a:p>
        </p:txBody>
      </p:sp>
      <p:sp>
        <p:nvSpPr>
          <p:cNvPr id="97" name="Google Shape;97;p1"/>
          <p:cNvSpPr/>
          <p:nvPr/>
        </p:nvSpPr>
        <p:spPr>
          <a:xfrm>
            <a:off x="20648357" y="23941564"/>
            <a:ext cx="9350150" cy="134972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Demos, and Presentation.</a:t>
            </a:r>
            <a:endParaRPr sz="984" dirty="0"/>
          </a:p>
        </p:txBody>
      </p:sp>
      <p:sp>
        <p:nvSpPr>
          <p:cNvPr id="98" name="Google Shape;98;p1"/>
          <p:cNvSpPr/>
          <p:nvPr/>
        </p:nvSpPr>
        <p:spPr>
          <a:xfrm>
            <a:off x="20687919" y="30080636"/>
            <a:ext cx="9354210" cy="1167142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6000"/>
            </a:pPr>
            <a:r>
              <a:rPr lang="ms" sz="5009" b="1" dirty="0">
                <a:solidFill>
                  <a:schemeClr val="lt1"/>
                </a:solidFill>
              </a:rPr>
              <a:t>Conclusion</a:t>
            </a:r>
            <a:endParaRPr sz="984" dirty="0"/>
          </a:p>
        </p:txBody>
      </p:sp>
      <p:sp>
        <p:nvSpPr>
          <p:cNvPr id="99" name="Google Shape;99;p1"/>
          <p:cNvSpPr/>
          <p:nvPr/>
        </p:nvSpPr>
        <p:spPr>
          <a:xfrm>
            <a:off x="29177" y="6538903"/>
            <a:ext cx="20154474" cy="8107227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577480" y="30018784"/>
            <a:ext cx="9924523" cy="11449605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 dirty="0">
              <a:solidFill>
                <a:schemeClr val="lt1"/>
              </a:solidFill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0724400" y="5921285"/>
            <a:ext cx="9355607" cy="1771610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860338" y="30035585"/>
            <a:ext cx="9448041" cy="1693246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20691969" y="24138754"/>
            <a:ext cx="9388038" cy="5775291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20688200" y="30157370"/>
            <a:ext cx="9353929" cy="7278769"/>
          </a:xfrm>
          <a:prstGeom prst="rect">
            <a:avLst/>
          </a:prstGeom>
          <a:noFill/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20687919" y="38783131"/>
            <a:ext cx="9397831" cy="8120993"/>
          </a:xfrm>
          <a:prstGeom prst="rect">
            <a:avLst/>
          </a:prstGeom>
          <a:solidFill>
            <a:schemeClr val="lt1"/>
          </a:solidFill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Resolve the FortiGate SOAR authentication issue to complete automated response actions</a:t>
            </a:r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Replace remaining mock data in the analyst dashboard with live pipeline data</a:t>
            </a:r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r>
              <a:rPr lang="en-US" sz="3200" dirty="0"/>
              <a:t>Build the automated Detection-Gap Loop and expand the RAG threat-intelligence layer</a:t>
            </a:r>
          </a:p>
          <a:p>
            <a:pPr>
              <a:buSzPts val="1800"/>
            </a:pPr>
            <a:endParaRPr lang="en-US" sz="3200" dirty="0"/>
          </a:p>
          <a:p>
            <a:pPr marL="571500" indent="-571500">
              <a:buSzPts val="1800"/>
              <a:buFont typeface="Arial" panose="020B0604020202020204" pitchFamily="34" charset="0"/>
              <a:buChar char="•"/>
            </a:pPr>
            <a:endParaRPr lang="en-US" sz="3200" dirty="0"/>
          </a:p>
          <a:p>
            <a:pPr algn="ctr">
              <a:buSzPts val="1800"/>
            </a:pPr>
            <a:endParaRPr sz="440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lt1"/>
              </a:solidFill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20688200" y="37602730"/>
            <a:ext cx="9458795" cy="938578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71691" tIns="38140" rIns="171691" bIns="38140" anchor="ctr" anchorCtr="0">
            <a:noAutofit/>
          </a:bodyPr>
          <a:lstStyle/>
          <a:p>
            <a:pPr algn="ctr">
              <a:buSzPts val="5800"/>
            </a:pPr>
            <a:r>
              <a:rPr lang="ms" sz="4840" b="1" dirty="0">
                <a:solidFill>
                  <a:schemeClr val="lt1"/>
                </a:solidFill>
              </a:rPr>
              <a:t>Future Work</a:t>
            </a:r>
            <a:r>
              <a:rPr lang="ms" sz="5009" b="1" dirty="0">
                <a:solidFill>
                  <a:schemeClr val="lt1"/>
                </a:solidFill>
              </a:rPr>
              <a:t> </a:t>
            </a:r>
            <a:endParaRPr sz="984" dirty="0"/>
          </a:p>
        </p:txBody>
      </p:sp>
      <p:sp>
        <p:nvSpPr>
          <p:cNvPr id="113" name="Google Shape;113;p1"/>
          <p:cNvSpPr/>
          <p:nvPr/>
        </p:nvSpPr>
        <p:spPr>
          <a:xfrm>
            <a:off x="29178" y="47466381"/>
            <a:ext cx="30724474" cy="551931"/>
          </a:xfrm>
          <a:prstGeom prst="rect">
            <a:avLst/>
          </a:prstGeom>
          <a:solidFill>
            <a:srgbClr val="5CC6D8"/>
          </a:solidFill>
          <a:ln w="127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91256B-7B1C-5FA6-9141-FC03145A2FFD}"/>
              </a:ext>
            </a:extLst>
          </p:cNvPr>
          <p:cNvSpPr txBox="1"/>
          <p:nvPr/>
        </p:nvSpPr>
        <p:spPr>
          <a:xfrm>
            <a:off x="612820" y="6975697"/>
            <a:ext cx="1908753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AgeixAISOC is an AI-orchestrated Security Operations Center platform built on one principle: AI detects, correlates, scores, and recommends — a human analyst keeps final authority over every high-impact action. A LangGraph orchestrator coordinates specialized CrewAI agents (detection, risk scoring, threat hunting, recommendation) on top of a live Wazuh SIEM integration, targeting the industry problem of 10,000+ daily alerts with ~70% false positives and multi-month breach-detection times.</a:t>
            </a:r>
          </a:p>
        </p:txBody>
      </p:sp>
      <p:sp>
        <p:nvSpPr>
          <p:cNvPr id="6" name="Google Shape;108;p1">
            <a:extLst>
              <a:ext uri="{FF2B5EF4-FFF2-40B4-BE49-F238E27FC236}">
                <a16:creationId xmlns:a16="http://schemas.microsoft.com/office/drawing/2014/main" id="{F2C7D204-A9C4-0F6B-E50D-E974AB15F5F8}"/>
              </a:ext>
            </a:extLst>
          </p:cNvPr>
          <p:cNvSpPr/>
          <p:nvPr/>
        </p:nvSpPr>
        <p:spPr>
          <a:xfrm>
            <a:off x="684388" y="42444862"/>
            <a:ext cx="9918907" cy="4895920"/>
          </a:xfrm>
          <a:prstGeom prst="rect">
            <a:avLst/>
          </a:prstGeom>
          <a:solidFill>
            <a:schemeClr val="lt1"/>
          </a:solidFill>
          <a:ln w="127000" cap="flat" cmpd="sng">
            <a:solidFill>
              <a:srgbClr val="5CC6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6301" tIns="38140" rIns="76301" bIns="38140" anchor="ctr" anchorCtr="0">
            <a:noAutofit/>
          </a:bodyPr>
          <a:lstStyle/>
          <a:p>
            <a:pPr algn="ctr">
              <a:buSzPts val="1800"/>
            </a:pPr>
            <a:endParaRPr sz="1502" dirty="0">
              <a:solidFill>
                <a:schemeClr val="l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A535B-E6AA-F64D-6BDD-229F54597BD5}"/>
              </a:ext>
            </a:extLst>
          </p:cNvPr>
          <p:cNvSpPr txBox="1"/>
          <p:nvPr/>
        </p:nvSpPr>
        <p:spPr>
          <a:xfrm>
            <a:off x="1003300" y="31369000"/>
            <a:ext cx="8890000" cy="952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Isolated network: FortiGate firewall, Wazuh SIEM manager + agent, Active Directory domain controller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Attacker host (Kali Linux) plus vulnerable targets: Windows 10 (Sysmon), Ubuntu, Metasploitable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Detection and orchestration logic validated against realistic, repeatable attack scenarios with zero risk to production systems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3 of 3 attack scenarios were detected end-to-end, from Wazuh alert to a produced HITL decision card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3DCED9-40F3-6199-9623-48152B0F779C}"/>
              </a:ext>
            </a:extLst>
          </p:cNvPr>
          <p:cNvSpPr txBox="1"/>
          <p:nvPr/>
        </p:nvSpPr>
        <p:spPr>
          <a:xfrm>
            <a:off x="2524540" y="16015246"/>
            <a:ext cx="141632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Give SOC analysts a governed AI teammate: automate the detection, correlation, and scoring workload that causes triage burnout, while a mandatory Human-in-the-Loop approval gate keeps a person in control of every consequential action — producing a fully auditable decision trail for every alert.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3D875C-C58A-62EC-469C-93F1417DD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6" y="15722946"/>
            <a:ext cx="20615119" cy="44408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32468C-120A-52FF-2142-07C53B1648AC}"/>
              </a:ext>
            </a:extLst>
          </p:cNvPr>
          <p:cNvSpPr txBox="1"/>
          <p:nvPr/>
        </p:nvSpPr>
        <p:spPr>
          <a:xfrm>
            <a:off x="11537124" y="31327802"/>
            <a:ext cx="7982194" cy="1212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How AgeixAISOC processes an alert, end to end: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Ingestion: Wazuh SIEM streams live alerts from lab hosts into the platform via webhook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Orchestration: a LangGraph master orchestrator sequences the Detection, Risk Scoring, Threat Hunter and Recommendation agents (CrewAI)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Human-in-the-Loop: every recommendation becomes a decision card — an analyst must Approve, Modify, Reject or Request Info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Execution and audit: approved actions (Sigma rule push, FortiGate block) run automatically and every step is logged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400" dirty="0"/>
              <a:t>Feedback loop: analyst decisions feed a RAG memory layer (ChromaDB) that suppresses repeat false positives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ECB1F8-E0E0-1D55-E447-281DF496B072}"/>
              </a:ext>
            </a:extLst>
          </p:cNvPr>
          <p:cNvSpPr txBox="1"/>
          <p:nvPr/>
        </p:nvSpPr>
        <p:spPr>
          <a:xfrm>
            <a:off x="21319699" y="11434747"/>
            <a:ext cx="8338346" cy="1143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All 3 tested attack scenarios were detected by Wazuh, reached the orchestrator, and produced a HITL decision card</a:t>
            </a:r>
          </a:p>
          <a:p>
            <a:pPr marL="571500" indent="-5715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Confirmed working end-to-end: SIEM integration, orchestration, HITL approval gate, and audit trail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6 subsystems confirmed fully working in the lab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2 subsystems partially implemented (FortiGate SOAR auth, dashboard mock data)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4 subsystems remain target design for future work</a:t>
            </a:r>
          </a:p>
          <a:p>
            <a:pPr marL="742950" indent="-742950">
              <a:spcAft>
                <a:spcPts val="700"/>
              </a:spcAft>
              <a:buFont typeface="+mj-lt"/>
              <a:buAutoNum type="arabicPeriod"/>
            </a:pPr>
            <a:r>
              <a:rPr lang="en-US" sz="3600" dirty="0"/>
              <a:t>100% detection rate across all validated attack scenarios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/>
              <a:t>RAG memory layer reduces repeat false positives from analyst 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2E1B3B-F124-FB80-1D28-9ADEDFB7B6E1}"/>
              </a:ext>
            </a:extLst>
          </p:cNvPr>
          <p:cNvSpPr txBox="1"/>
          <p:nvPr/>
        </p:nvSpPr>
        <p:spPr>
          <a:xfrm>
            <a:off x="20875336" y="31460204"/>
            <a:ext cx="88961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dirty="0"/>
              <a:t>AgeixAISOC shows that an AI-orchestrated detection-to-recommendation pipeline, governed by a strict Human-in-the-Loop approval gate, is achievable within a graduation-project scope. The core pipeline runs end-to-end against a live SIEM, giving a credible, extensible foundation for a governance-ready SOC platform where AI handles alert volume while humans keep final control and accountability.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5740632" y="-54689"/>
            <a:ext cx="22554494" cy="2588334"/>
            <a:chOff x="7639142" y="16853745"/>
            <a:chExt cx="22554494" cy="2588334"/>
          </a:xfrm>
        </p:grpSpPr>
        <p:grpSp>
          <p:nvGrpSpPr>
            <p:cNvPr id="58" name="Group 57"/>
            <p:cNvGrpSpPr/>
            <p:nvPr/>
          </p:nvGrpSpPr>
          <p:grpSpPr>
            <a:xfrm>
              <a:off x="7639142" y="16853745"/>
              <a:ext cx="22554494" cy="2588334"/>
              <a:chOff x="1111995" y="75619"/>
              <a:chExt cx="8638774" cy="822960"/>
            </a:xfrm>
          </p:grpSpPr>
          <p:grpSp>
            <p:nvGrpSpPr>
              <p:cNvPr id="60" name="Group 59"/>
              <p:cNvGrpSpPr/>
              <p:nvPr/>
            </p:nvGrpSpPr>
            <p:grpSpPr>
              <a:xfrm>
                <a:off x="5907394" y="75619"/>
                <a:ext cx="3843375" cy="822960"/>
                <a:chOff x="5564494" y="-213306"/>
                <a:chExt cx="3843375" cy="822960"/>
              </a:xfrm>
            </p:grpSpPr>
            <p:pic>
              <p:nvPicPr>
                <p:cNvPr id="62" name="صورة 8" descr="logo"/>
                <p:cNvPicPr/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523" t="2640" r="24189" b="3760"/>
                <a:stretch/>
              </p:blipFill>
              <p:spPr bwMode="auto">
                <a:xfrm>
                  <a:off x="5564494" y="-108052"/>
                  <a:ext cx="854429" cy="7014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63" name="صورة 6" descr="logo"/>
                <p:cNvPicPr/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090" t="10535" r="5108" b="8598"/>
                <a:stretch/>
              </p:blipFill>
              <p:spPr bwMode="auto">
                <a:xfrm>
                  <a:off x="7648284" y="-213306"/>
                  <a:ext cx="1759585" cy="8229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</p:grpSp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1995" y="144283"/>
                <a:ext cx="909196" cy="745472"/>
              </a:xfrm>
              <a:prstGeom prst="ellipse">
                <a:avLst/>
              </a:prstGeom>
              <a:ln w="3175" cap="rnd">
                <a:solidFill>
                  <a:srgbClr val="C8C6BD"/>
                </a:solidFill>
                <a:prstDash val="solid"/>
              </a:ln>
              <a:effectLst>
                <a:outerShdw blurRad="127000" algn="bl" rotWithShape="0">
                  <a:srgbClr val="000000"/>
                </a:outerShdw>
              </a:effectLst>
              <a:scene3d>
                <a:camera prst="perspectiveFront" fov="5400000"/>
                <a:lightRig rig="threePt" dir="t">
                  <a:rot lat="0" lon="0" rev="19200000"/>
                </a:lightRig>
              </a:scene3d>
              <a:sp3d extrusionH="25400">
                <a:bevelT w="304800" h="152400" prst="hardEdge"/>
                <a:extrusionClr>
                  <a:srgbClr val="000000"/>
                </a:extrusionClr>
              </a:sp3d>
            </p:spPr>
          </p:pic>
        </p:grpSp>
        <p:pic>
          <p:nvPicPr>
            <p:cNvPr id="59" name="Picture 58" descr="C:\Users\DELL\OneDrive\Desktop\Graduation Event\logo.png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05593" y="17436511"/>
              <a:ext cx="4328310" cy="16505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86;p1"/>
          <p:cNvSpPr txBox="1"/>
          <p:nvPr/>
        </p:nvSpPr>
        <p:spPr>
          <a:xfrm>
            <a:off x="22217675" y="2114179"/>
            <a:ext cx="8454794" cy="315605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4503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Under Supervision of:</a:t>
            </a:r>
            <a:endParaRPr sz="984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en-US" sz="4000" b="1" u="sng" dirty="0">
                <a:solidFill>
                  <a:schemeClr val="tx1"/>
                </a:solidFill>
                <a:latin typeface="Titillium Web"/>
                <a:ea typeface="Titillium Web"/>
                <a:cs typeface="Titillium Web"/>
                <a:sym typeface="Titillium Web"/>
              </a:rPr>
              <a:t>Eng. Abdelrazek Ali</a:t>
            </a: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b="1" u="sng" dirty="0">
                <a:solidFill>
                  <a:srgbClr val="C00000"/>
                </a:solidFill>
                <a:latin typeface="Titillium Web"/>
                <a:sym typeface="Titillium Web"/>
              </a:rPr>
              <a:t>General Supervisor</a:t>
            </a:r>
          </a:p>
          <a:p>
            <a:pPr>
              <a:spcBef>
                <a:spcPts val="900"/>
              </a:spcBef>
              <a:buClr>
                <a:schemeClr val="lt1"/>
              </a:buClr>
              <a:buSzPts val="5400"/>
            </a:pPr>
            <a:r>
              <a:rPr lang="ms" sz="4503" b="1" dirty="0">
                <a:solidFill>
                  <a:schemeClr val="tx1"/>
                </a:solidFill>
                <a:latin typeface="Titillium Web"/>
                <a:sym typeface="Titillium Web"/>
              </a:rPr>
              <a:t>Dr.Rabab Nabawy</a:t>
            </a:r>
          </a:p>
        </p:txBody>
      </p:sp>
      <p:sp>
        <p:nvSpPr>
          <p:cNvPr id="500" name="FlowBox0"/>
          <p:cNvSpPr/>
          <p:nvPr/>
        </p:nvSpPr>
        <p:spPr>
          <a:xfrm>
            <a:off x="1102014" y="21788195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Wazuh SIEM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Ingestion</a:t>
            </a:r>
          </a:p>
        </p:txBody>
      </p:sp>
      <p:sp>
        <p:nvSpPr>
          <p:cNvPr id="501" name="FlowArrow0"/>
          <p:cNvSpPr/>
          <p:nvPr/>
        </p:nvSpPr>
        <p:spPr>
          <a:xfrm>
            <a:off x="3494225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502" name="FlowBox1"/>
          <p:cNvSpPr/>
          <p:nvPr/>
        </p:nvSpPr>
        <p:spPr>
          <a:xfrm>
            <a:off x="4225005" y="21826231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LangGraph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Orchestrator</a:t>
            </a:r>
          </a:p>
        </p:txBody>
      </p:sp>
      <p:sp>
        <p:nvSpPr>
          <p:cNvPr id="503" name="FlowArrow1"/>
          <p:cNvSpPr/>
          <p:nvPr/>
        </p:nvSpPr>
        <p:spPr>
          <a:xfrm>
            <a:off x="6616700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" name="FlowBox2"/>
          <p:cNvSpPr/>
          <p:nvPr/>
        </p:nvSpPr>
        <p:spPr>
          <a:xfrm>
            <a:off x="7357925" y="21913199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CrewAI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Agents</a:t>
            </a:r>
          </a:p>
        </p:txBody>
      </p:sp>
      <p:sp>
        <p:nvSpPr>
          <p:cNvPr id="505" name="FlowArrow2"/>
          <p:cNvSpPr/>
          <p:nvPr/>
        </p:nvSpPr>
        <p:spPr>
          <a:xfrm>
            <a:off x="9658701" y="24479787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FlowBox3"/>
          <p:cNvSpPr/>
          <p:nvPr/>
        </p:nvSpPr>
        <p:spPr>
          <a:xfrm>
            <a:off x="10401794" y="21872103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Human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Approval</a:t>
            </a:r>
          </a:p>
        </p:txBody>
      </p:sp>
      <p:sp>
        <p:nvSpPr>
          <p:cNvPr id="507" name="FlowArrow3"/>
          <p:cNvSpPr/>
          <p:nvPr/>
        </p:nvSpPr>
        <p:spPr>
          <a:xfrm>
            <a:off x="12697082" y="24432909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FlowBox4"/>
          <p:cNvSpPr/>
          <p:nvPr/>
        </p:nvSpPr>
        <p:spPr>
          <a:xfrm>
            <a:off x="13440395" y="21919275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SOAR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Execution</a:t>
            </a:r>
          </a:p>
        </p:txBody>
      </p:sp>
      <p:sp>
        <p:nvSpPr>
          <p:cNvPr id="509" name="FlowArrow4"/>
          <p:cNvSpPr/>
          <p:nvPr/>
        </p:nvSpPr>
        <p:spPr>
          <a:xfrm>
            <a:off x="15756154" y="24488238"/>
            <a:ext cx="787218" cy="1741791"/>
          </a:xfrm>
          <a:prstGeom prst="rightArrow">
            <a:avLst/>
          </a:prstGeom>
          <a:solidFill>
            <a:srgbClr val="1F4E5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FlowBox5"/>
          <p:cNvSpPr/>
          <p:nvPr/>
        </p:nvSpPr>
        <p:spPr>
          <a:xfrm>
            <a:off x="16543375" y="21872103"/>
            <a:ext cx="2504786" cy="6017097"/>
          </a:xfrm>
          <a:prstGeom prst="roundRect">
            <a:avLst>
              <a:gd name="adj" fmla="val 8000"/>
            </a:avLst>
          </a:prstGeom>
          <a:solidFill>
            <a:srgbClr val="5CC6D8"/>
          </a:solidFill>
          <a:ln w="19050">
            <a:solidFill>
              <a:srgbClr val="3A9FB0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2600" b="1" dirty="0">
                <a:solidFill>
                  <a:srgbClr val="0D2B30"/>
                </a:solidFill>
              </a:rPr>
              <a:t>Audit</a:t>
            </a:r>
          </a:p>
          <a:p>
            <a:pPr algn="ctr"/>
            <a:r>
              <a:rPr lang="en-US" sz="2600" b="1" dirty="0">
                <a:solidFill>
                  <a:srgbClr val="0D2B30"/>
                </a:solidFill>
              </a:rPr>
              <a:t>Trail</a:t>
            </a:r>
          </a:p>
        </p:txBody>
      </p:sp>
      <p:pic>
        <p:nvPicPr>
          <p:cNvPr id="511" name="Graphic 511" descr="Firewall / perimeter 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4300" y="38608000"/>
            <a:ext cx="1651000" cy="1651000"/>
          </a:xfrm>
          <a:prstGeom prst="rect">
            <a:avLst/>
          </a:prstGeom>
        </p:spPr>
      </p:pic>
      <p:pic>
        <p:nvPicPr>
          <p:cNvPr id="512" name="Graphic 512" descr="SIEM serve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43300" y="38608000"/>
            <a:ext cx="1651000" cy="1651000"/>
          </a:xfrm>
          <a:prstGeom prst="rect">
            <a:avLst/>
          </a:prstGeom>
        </p:spPr>
      </p:pic>
      <p:pic>
        <p:nvPicPr>
          <p:cNvPr id="513" name="Graphic 513" descr="Active Directory networ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02300" y="38608000"/>
            <a:ext cx="1651000" cy="1651000"/>
          </a:xfrm>
          <a:prstGeom prst="rect">
            <a:avLst/>
          </a:prstGeom>
        </p:spPr>
      </p:pic>
      <p:pic>
        <p:nvPicPr>
          <p:cNvPr id="514" name="Graphic 514" descr="Attack scenario targe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61300" y="38608000"/>
            <a:ext cx="1651000" cy="1651000"/>
          </a:xfrm>
          <a:prstGeom prst="rect">
            <a:avLst/>
          </a:prstGeom>
        </p:spPr>
      </p:pic>
      <p:pic>
        <p:nvPicPr>
          <p:cNvPr id="515" name="Graphic 515" descr="Wazuh SIE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9800" y="42608500"/>
            <a:ext cx="1270000" cy="1270000"/>
          </a:xfrm>
          <a:prstGeom prst="rect">
            <a:avLst/>
          </a:prstGeom>
        </p:spPr>
      </p:pic>
      <p:pic>
        <p:nvPicPr>
          <p:cNvPr id="516" name="Graphic 516" descr="FortiGate firewa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71800" y="42608500"/>
            <a:ext cx="1270000" cy="1270000"/>
          </a:xfrm>
          <a:prstGeom prst="rect">
            <a:avLst/>
          </a:prstGeom>
        </p:spPr>
      </p:pic>
      <p:pic>
        <p:nvPicPr>
          <p:cNvPr id="517" name="Graphic 517" descr="LangGraph and CrewA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3800" y="42608500"/>
            <a:ext cx="1270000" cy="1270000"/>
          </a:xfrm>
          <a:prstGeom prst="rect">
            <a:avLst/>
          </a:prstGeom>
        </p:spPr>
      </p:pic>
      <p:pic>
        <p:nvPicPr>
          <p:cNvPr id="518" name="Graphic 518" descr="FastAPI and n8n autom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35800" y="42608500"/>
            <a:ext cx="1270000" cy="1270000"/>
          </a:xfrm>
          <a:prstGeom prst="rect">
            <a:avLst/>
          </a:prstGeom>
        </p:spPr>
      </p:pic>
      <p:pic>
        <p:nvPicPr>
          <p:cNvPr id="519" name="Graphic 519" descr="PostgreSQL and ChromaDB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67800" y="42608500"/>
            <a:ext cx="1270000" cy="1270000"/>
          </a:xfrm>
          <a:prstGeom prst="rect">
            <a:avLst/>
          </a:prstGeom>
        </p:spPr>
      </p:pic>
      <p:pic>
        <p:nvPicPr>
          <p:cNvPr id="520" name="Graphic 520" descr="Governed AI teamma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072100" y="16233576"/>
            <a:ext cx="2413000" cy="2413000"/>
          </a:xfrm>
          <a:prstGeom prst="rect">
            <a:avLst/>
          </a:prstGeom>
        </p:spPr>
      </p:pic>
      <p:pic>
        <p:nvPicPr>
          <p:cNvPr id="521" name="Graphic 521" descr="Validated attack detec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265150" y="7170469"/>
            <a:ext cx="3302000" cy="330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2785D6-83EE-4373-B47F-01F3318BDC21}"/>
              </a:ext>
            </a:extLst>
          </p:cNvPr>
          <p:cNvSpPr txBox="1"/>
          <p:nvPr/>
        </p:nvSpPr>
        <p:spPr>
          <a:xfrm>
            <a:off x="685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Wazuh SIEM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32770-E1F5-49E4-9F22-EA009FE967D9}"/>
              </a:ext>
            </a:extLst>
          </p:cNvPr>
          <p:cNvSpPr txBox="1"/>
          <p:nvPr/>
        </p:nvSpPr>
        <p:spPr>
          <a:xfrm>
            <a:off x="2717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FortiGate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BC402-63A9-4293-B8E3-48D4A486A7C6}"/>
              </a:ext>
            </a:extLst>
          </p:cNvPr>
          <p:cNvSpPr txBox="1"/>
          <p:nvPr/>
        </p:nvSpPr>
        <p:spPr>
          <a:xfrm>
            <a:off x="4749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LangGraph / CrewAI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F2CB4-140E-4AE6-BC7C-1CAE72EAE044}"/>
              </a:ext>
            </a:extLst>
          </p:cNvPr>
          <p:cNvSpPr txBox="1"/>
          <p:nvPr/>
        </p:nvSpPr>
        <p:spPr>
          <a:xfrm>
            <a:off x="6781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FastAPI / n8n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F9251-EC86-468C-A379-1D5609632411}"/>
              </a:ext>
            </a:extLst>
          </p:cNvPr>
          <p:cNvSpPr txBox="1"/>
          <p:nvPr/>
        </p:nvSpPr>
        <p:spPr>
          <a:xfrm>
            <a:off x="8813800" y="44043600"/>
            <a:ext cx="1778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/>
              <a:t>PostgreSQL / ChromaDB</a:t>
            </a:r>
          </a:p>
        </p:txBody>
      </p:sp>
      <p:graphicFrame>
        <p:nvGraphicFramePr>
          <p:cNvPr id="530" name="Status Chart"/>
          <p:cNvGraphicFramePr/>
          <p:nvPr>
            <p:extLst>
              <p:ext uri="{D42A27DB-BD31-4B8C-83A1-F6EECF244321}">
                <p14:modId xmlns:p14="http://schemas.microsoft.com/office/powerpoint/2010/main" val="2041450392"/>
              </p:ext>
            </p:extLst>
          </p:nvPr>
        </p:nvGraphicFramePr>
        <p:xfrm>
          <a:off x="25107900" y="6972300"/>
          <a:ext cx="46990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3F43F6C-C029-8DD9-3494-4BA80E27805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406124" y="25416891"/>
            <a:ext cx="5834613" cy="432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1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48" row="6">
    <wetp:webextensionref xmlns:r="http://schemas.openxmlformats.org/officeDocument/2006/relationships" r:id="rId1"/>
  </wetp:taskpane>
  <wetp:taskpane dockstate="right" visibility="0" width="350" row="7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8C5976-1411-4E93-B1F8-647C475B1101}">
  <we:reference id="wa200010725" version="1.0.0.1" store="en-GB" storeType="OMEX"/>
  <we:alternateReferences>
    <we:reference id="WA200010725" version="1.0.0.1" store="WA200010725" storeType="OMEX"/>
  </we:alternateReferences>
  <we:properties>
    <we:property name="claude.fileId" value="&quot;b6c7cd2d-9221-4ecd-b38e-0dd19ac311f4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1674140-74E8-4331-8A92-42EA69B87CAC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56526625-e684-484d-a2c3-f13b8e3357b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558</Words>
  <Application>Microsoft Office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Unicode MS</vt:lpstr>
      <vt:lpstr>Titillium Web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</dc:creator>
  <cp:lastModifiedBy>Soc</cp:lastModifiedBy>
  <cp:revision>16</cp:revision>
  <dcterms:created xsi:type="dcterms:W3CDTF">2012-07-09T21:51:14Z</dcterms:created>
  <dcterms:modified xsi:type="dcterms:W3CDTF">2026-08-24T17:18:15Z</dcterms:modified>
</cp:coreProperties>
</file>